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2453061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2754127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 网络诊断工具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0477470" y="720090"/>
            <a:ext cx="349076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单文件 · 零依赖 · 23 项诊断模块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2984345"/>
            <a:ext cx="6386170" cy="8885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6677"/>
              </a:lnSpc>
              <a:buNone/>
            </a:pPr>
            <a:r>
              <a:rPr lang="en-US" sz="6240" b="1" spc="-156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NetPulse v1.14</a:t>
            </a:r>
            <a:endParaRPr lang="en-US" sz="6240" dirty="0"/>
          </a:p>
        </p:txBody>
      </p:sp>
      <p:sp>
        <p:nvSpPr>
          <p:cNvPr id="10" name="Text 8"/>
          <p:cNvSpPr/>
          <p:nvPr/>
        </p:nvSpPr>
        <p:spPr>
          <a:xfrm>
            <a:off x="914400" y="3797733"/>
            <a:ext cx="5527914" cy="8885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6677"/>
              </a:lnSpc>
              <a:buNone/>
            </a:pPr>
            <a:r>
              <a:rPr lang="en-US" sz="6240" b="1" spc="-156" kern="0" dirty="0">
                <a:solidFill>
                  <a:srgbClr val="274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更新与功能全景</a:t>
            </a:r>
            <a:endParaRPr lang="en-US" sz="6240" dirty="0"/>
          </a:p>
        </p:txBody>
      </p:sp>
      <p:sp>
        <p:nvSpPr>
          <p:cNvPr id="11" name="Text 9"/>
          <p:cNvSpPr/>
          <p:nvPr/>
        </p:nvSpPr>
        <p:spPr>
          <a:xfrm>
            <a:off x="914400" y="4970221"/>
            <a:ext cx="57811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v1.2 到 v1.14.13 一个多月迭代 40+ 个版本:根因分析、盯障取</a:t>
            </a:r>
            <a:endParaRPr lang="en-US" sz="1620" dirty="0"/>
          </a:p>
        </p:txBody>
      </p:sp>
      <p:sp>
        <p:nvSpPr>
          <p:cNvPr id="12" name="Text 10"/>
          <p:cNvSpPr/>
          <p:nvPr/>
        </p:nvSpPr>
        <p:spPr>
          <a:xfrm>
            <a:off x="914400" y="5278831"/>
            <a:ext cx="2971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证、现场检测与完整使用指南。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8542050" y="3302996"/>
            <a:ext cx="5173950" cy="1874977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2050" y="3302996"/>
            <a:ext cx="11593" cy="1874977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31095" y="3290103"/>
            <a:ext cx="2452421" cy="1421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8669"/>
              </a:lnSpc>
              <a:buNone/>
            </a:pPr>
            <a:r>
              <a:rPr lang="en-US" sz="10080" b="1" spc="-200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10080" dirty="0"/>
          </a:p>
        </p:txBody>
      </p:sp>
      <p:sp>
        <p:nvSpPr>
          <p:cNvPr id="16" name="Text 14"/>
          <p:cNvSpPr/>
          <p:nvPr/>
        </p:nvSpPr>
        <p:spPr>
          <a:xfrm>
            <a:off x="12583516" y="3404403"/>
            <a:ext cx="1132484" cy="4084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2898"/>
              </a:lnSpc>
              <a:buNone/>
            </a:pPr>
            <a:r>
              <a:rPr lang="en-US" sz="2760" b="1" spc="-34" kern="0" dirty="0">
                <a:solidFill>
                  <a:srgbClr val="274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个版本</a:t>
            </a:r>
            <a:endParaRPr lang="en-US" sz="2760" dirty="0"/>
          </a:p>
        </p:txBody>
      </p:sp>
      <p:sp>
        <p:nvSpPr>
          <p:cNvPr id="17" name="Text 15"/>
          <p:cNvSpPr/>
          <p:nvPr/>
        </p:nvSpPr>
        <p:spPr>
          <a:xfrm>
            <a:off x="8945850" y="4541002"/>
            <a:ext cx="477015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v1.2.0 → v1.14.13</a:t>
            </a:r>
            <a:endParaRPr lang="en-US" sz="2040" dirty="0"/>
          </a:p>
        </p:txBody>
      </p:sp>
      <p:sp>
        <p:nvSpPr>
          <p:cNvPr id="18" name="Text 16"/>
          <p:cNvSpPr/>
          <p:nvPr/>
        </p:nvSpPr>
        <p:spPr>
          <a:xfrm>
            <a:off x="8945850" y="4912888"/>
            <a:ext cx="477015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2026-08-31 → 2026-09-30 持续迭代</a:t>
            </a:r>
            <a:endParaRPr lang="en-US" sz="1440" dirty="0"/>
          </a:p>
        </p:txBody>
      </p:sp>
      <p:sp>
        <p:nvSpPr>
          <p:cNvPr id="19" name="Shape 17"/>
          <p:cNvSpPr/>
          <p:nvPr/>
        </p:nvSpPr>
        <p:spPr>
          <a:xfrm>
            <a:off x="914400" y="7109460"/>
            <a:ext cx="12801600" cy="759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7254210"/>
            <a:ext cx="2487625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单文件 NETPULSE.PY</a:t>
            </a:r>
            <a:endParaRPr lang="en-US" sz="1584" dirty="0"/>
          </a:p>
        </p:txBody>
      </p:sp>
      <p:sp>
        <p:nvSpPr>
          <p:cNvPr id="21" name="Text 19"/>
          <p:cNvSpPr/>
          <p:nvPr/>
        </p:nvSpPr>
        <p:spPr>
          <a:xfrm>
            <a:off x="3336463" y="7254210"/>
            <a:ext cx="1822719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核心零第三方依赖</a:t>
            </a:r>
            <a:endParaRPr lang="en-US" sz="1584" dirty="0"/>
          </a:p>
        </p:txBody>
      </p:sp>
      <p:sp>
        <p:nvSpPr>
          <p:cNvPr id="22" name="Text 20"/>
          <p:cNvSpPr/>
          <p:nvPr/>
        </p:nvSpPr>
        <p:spPr>
          <a:xfrm>
            <a:off x="5253137" y="7254210"/>
            <a:ext cx="216575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 10 / 11</a:t>
            </a:r>
            <a:endParaRPr lang="en-US" sz="1584" dirty="0"/>
          </a:p>
        </p:txBody>
      </p:sp>
      <p:sp>
        <p:nvSpPr>
          <p:cNvPr id="23" name="Text 21"/>
          <p:cNvSpPr/>
          <p:nvPr/>
        </p:nvSpPr>
        <p:spPr>
          <a:xfrm>
            <a:off x="12222145" y="7254210"/>
            <a:ext cx="1701607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 年 10 月</a:t>
            </a:r>
            <a:endParaRPr lang="en-US" sz="158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1411376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1468481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项目体量一览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0865175" y="720090"/>
            <a:ext cx="328585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单文件 WINDOWS 网络诊断工具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857341"/>
            <a:ext cx="5669280" cy="31821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784"/>
              </a:lnSpc>
              <a:buNone/>
            </a:pPr>
            <a:r>
              <a:rPr lang="en-US" sz="22800" b="1" spc="-200" kern="0" dirty="0">
                <a:solidFill>
                  <a:srgbClr val="274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</a:t>
            </a:r>
            <a:endParaRPr lang="en-US" sz="22800" dirty="0"/>
          </a:p>
        </p:txBody>
      </p:sp>
      <p:sp>
        <p:nvSpPr>
          <p:cNvPr id="10" name="Text 8"/>
          <p:cNvSpPr/>
          <p:nvPr/>
        </p:nvSpPr>
        <p:spPr>
          <a:xfrm>
            <a:off x="914400" y="3115818"/>
            <a:ext cx="5669280" cy="31821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784"/>
              </a:lnSpc>
              <a:buNone/>
            </a:pPr>
            <a:r>
              <a:rPr lang="en-US" sz="22800" b="1" spc="-200" kern="0" dirty="0">
                <a:solidFill>
                  <a:srgbClr val="274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</a:t>
            </a:r>
            <a:endParaRPr lang="en-US" sz="22800" dirty="0"/>
          </a:p>
        </p:txBody>
      </p:sp>
      <p:sp>
        <p:nvSpPr>
          <p:cNvPr id="11" name="Text 9"/>
          <p:cNvSpPr/>
          <p:nvPr/>
        </p:nvSpPr>
        <p:spPr>
          <a:xfrm>
            <a:off x="6618702" y="1381447"/>
            <a:ext cx="1211580" cy="12771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b="1" spc="-200" kern="0" dirty="0">
                <a:solidFill>
                  <a:srgbClr val="274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914400" y="5883917"/>
            <a:ext cx="6284946" cy="7634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98"/>
              </a:lnSpc>
              <a:buNone/>
            </a:pPr>
            <a:r>
              <a:rPr lang="en-US" sz="2760" b="1" spc="-34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零依赖即可运行, 报告开箱即用,覆盖端到端排障链路。</a:t>
            </a:r>
            <a:endParaRPr lang="en-US" sz="276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720000">
            <a:off x="3749040" y="646298"/>
            <a:ext cx="1904970" cy="190497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6491" y="3375690"/>
            <a:ext cx="5489509" cy="101343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6491" y="3375690"/>
            <a:ext cx="11593" cy="101343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60831" y="3375690"/>
            <a:ext cx="138847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274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全量回归保护</a:t>
            </a:r>
            <a:endParaRPr lang="en-US" sz="1584" dirty="0"/>
          </a:p>
        </p:txBody>
      </p:sp>
      <p:sp>
        <p:nvSpPr>
          <p:cNvPr id="17" name="Text 14"/>
          <p:cNvSpPr/>
          <p:nvPr/>
        </p:nvSpPr>
        <p:spPr>
          <a:xfrm>
            <a:off x="8660831" y="3810030"/>
            <a:ext cx="50624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个模块覆盖局域网到外网全链路;8 条规则跨模块定位</a:t>
            </a:r>
            <a:endParaRPr lang="en-US" sz="1620" dirty="0"/>
          </a:p>
        </p:txBody>
      </p:sp>
      <p:sp>
        <p:nvSpPr>
          <p:cNvPr id="18" name="Text 15"/>
          <p:cNvSpPr/>
          <p:nvPr/>
        </p:nvSpPr>
        <p:spPr>
          <a:xfrm>
            <a:off x="8660831" y="4118640"/>
            <a:ext cx="3053867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根因;497 个用例守护每次发版。</a:t>
            </a:r>
            <a:endParaRPr lang="en-US" sz="1620" dirty="0"/>
          </a:p>
        </p:txBody>
      </p:sp>
      <p:sp>
        <p:nvSpPr>
          <p:cNvPr id="19" name="Shape 16"/>
          <p:cNvSpPr/>
          <p:nvPr/>
        </p:nvSpPr>
        <p:spPr>
          <a:xfrm>
            <a:off x="914400" y="6515100"/>
            <a:ext cx="12801600" cy="759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6714051"/>
            <a:ext cx="733958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3840" b="1" spc="-96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840" dirty="0"/>
          </a:p>
        </p:txBody>
      </p:sp>
      <p:sp>
        <p:nvSpPr>
          <p:cNvPr id="21" name="Text 18"/>
          <p:cNvSpPr/>
          <p:nvPr/>
        </p:nvSpPr>
        <p:spPr>
          <a:xfrm>
            <a:off x="1567464" y="6890141"/>
            <a:ext cx="358445" cy="3093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2040" dirty="0"/>
          </a:p>
        </p:txBody>
      </p:sp>
      <p:sp>
        <p:nvSpPr>
          <p:cNvPr id="22" name="Text 19"/>
          <p:cNvSpPr/>
          <p:nvPr/>
        </p:nvSpPr>
        <p:spPr>
          <a:xfrm>
            <a:off x="914400" y="7277070"/>
            <a:ext cx="3906408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诊断模块</a:t>
            </a:r>
            <a:endParaRPr lang="en-US" sz="1452" dirty="0"/>
          </a:p>
        </p:txBody>
      </p:sp>
      <p:sp>
        <p:nvSpPr>
          <p:cNvPr id="23" name="Shape 20"/>
          <p:cNvSpPr/>
          <p:nvPr/>
        </p:nvSpPr>
        <p:spPr>
          <a:xfrm>
            <a:off x="5064679" y="6690390"/>
            <a:ext cx="4158051" cy="83823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64679" y="6690390"/>
            <a:ext cx="11593" cy="83823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07579" y="6714051"/>
            <a:ext cx="421843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3840" b="1" spc="-96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840" dirty="0"/>
          </a:p>
        </p:txBody>
      </p:sp>
      <p:sp>
        <p:nvSpPr>
          <p:cNvPr id="26" name="Text 23"/>
          <p:cNvSpPr/>
          <p:nvPr/>
        </p:nvSpPr>
        <p:spPr>
          <a:xfrm>
            <a:off x="5764652" y="6890141"/>
            <a:ext cx="358445" cy="3093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</a:t>
            </a:r>
            <a:endParaRPr lang="en-US" sz="2040" dirty="0"/>
          </a:p>
        </p:txBody>
      </p:sp>
      <p:sp>
        <p:nvSpPr>
          <p:cNvPr id="27" name="Text 24"/>
          <p:cNvSpPr/>
          <p:nvPr/>
        </p:nvSpPr>
        <p:spPr>
          <a:xfrm>
            <a:off x="5407579" y="7277070"/>
            <a:ext cx="3906591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根因规则</a:t>
            </a:r>
            <a:endParaRPr lang="en-US" sz="1452" dirty="0"/>
          </a:p>
        </p:txBody>
      </p:sp>
      <p:sp>
        <p:nvSpPr>
          <p:cNvPr id="28" name="Shape 25"/>
          <p:cNvSpPr/>
          <p:nvPr/>
        </p:nvSpPr>
        <p:spPr>
          <a:xfrm>
            <a:off x="9557949" y="6690390"/>
            <a:ext cx="4158051" cy="83823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557949" y="6690390"/>
            <a:ext cx="11593" cy="83823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00849" y="6714051"/>
            <a:ext cx="1046074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3840" b="1" spc="-96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497</a:t>
            </a:r>
            <a:endParaRPr lang="en-US" sz="3840" dirty="0"/>
          </a:p>
        </p:txBody>
      </p:sp>
      <p:sp>
        <p:nvSpPr>
          <p:cNvPr id="31" name="Text 28"/>
          <p:cNvSpPr/>
          <p:nvPr/>
        </p:nvSpPr>
        <p:spPr>
          <a:xfrm>
            <a:off x="10849905" y="6890141"/>
            <a:ext cx="358445" cy="3093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</a:t>
            </a:r>
            <a:endParaRPr lang="en-US" sz="2040" dirty="0"/>
          </a:p>
        </p:txBody>
      </p:sp>
      <p:sp>
        <p:nvSpPr>
          <p:cNvPr id="32" name="Text 29"/>
          <p:cNvSpPr/>
          <p:nvPr/>
        </p:nvSpPr>
        <p:spPr>
          <a:xfrm>
            <a:off x="9900849" y="7277070"/>
            <a:ext cx="3906591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回归用例</a:t>
            </a:r>
            <a:endParaRPr lang="en-US" sz="145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1001908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1002228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版本演进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1078047" y="720090"/>
            <a:ext cx="2909667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 → V1.14 六波大更新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495089"/>
            <a:ext cx="1952884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三条主线</a:t>
            </a:r>
            <a:endParaRPr lang="en-US" sz="3720" dirty="0"/>
          </a:p>
        </p:txBody>
      </p:sp>
      <p:sp>
        <p:nvSpPr>
          <p:cNvPr id="10" name="Text 8"/>
          <p:cNvSpPr/>
          <p:nvPr/>
        </p:nvSpPr>
        <p:spPr>
          <a:xfrm>
            <a:off x="2775844" y="1495089"/>
            <a:ext cx="2883560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274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从检测到定位</a:t>
            </a:r>
            <a:endParaRPr lang="en-US" sz="3720" dirty="0"/>
          </a:p>
        </p:txBody>
      </p:sp>
      <p:sp>
        <p:nvSpPr>
          <p:cNvPr id="11" name="Shape 9"/>
          <p:cNvSpPr/>
          <p:nvPr/>
        </p:nvSpPr>
        <p:spPr>
          <a:xfrm>
            <a:off x="3047878" y="3096250"/>
            <a:ext cx="8534278" cy="1527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0820" y="3046689"/>
            <a:ext cx="114300" cy="114300"/>
          </a:xfrm>
          <a:prstGeom prst="ellipse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161513">
                <a:alpha val="7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258050" y="3046689"/>
            <a:ext cx="114300" cy="114300"/>
          </a:xfrm>
          <a:prstGeom prst="ellipse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161513">
                <a:alpha val="7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525280" y="3046689"/>
            <a:ext cx="114300" cy="114300"/>
          </a:xfrm>
          <a:prstGeom prst="ellipse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161513">
                <a:alpha val="7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19170" y="3431469"/>
            <a:ext cx="73709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会诊断</a:t>
            </a:r>
            <a:endParaRPr lang="en-US" sz="1584" dirty="0"/>
          </a:p>
        </p:txBody>
      </p:sp>
      <p:sp>
        <p:nvSpPr>
          <p:cNvPr id="16" name="Text 14"/>
          <p:cNvSpPr/>
          <p:nvPr/>
        </p:nvSpPr>
        <p:spPr>
          <a:xfrm>
            <a:off x="1219170" y="3812271"/>
            <a:ext cx="2830068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90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v1.3 → v1.6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219170" y="4446681"/>
            <a:ext cx="2060692" cy="3093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根因引擎+场景化</a:t>
            </a:r>
            <a:endParaRPr lang="en-US" sz="2040" dirty="0"/>
          </a:p>
        </p:txBody>
      </p:sp>
      <p:sp>
        <p:nvSpPr>
          <p:cNvPr id="18" name="Text 16"/>
          <p:cNvSpPr/>
          <p:nvPr/>
        </p:nvSpPr>
        <p:spPr>
          <a:xfrm>
            <a:off x="1219170" y="4892954"/>
            <a:ext cx="3605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条根因规则跨模块聚合证据;场景菜单</a:t>
            </a:r>
            <a:endParaRPr lang="en-US" sz="1620" dirty="0"/>
          </a:p>
        </p:txBody>
      </p:sp>
      <p:sp>
        <p:nvSpPr>
          <p:cNvPr id="19" name="Text 17"/>
          <p:cNvSpPr/>
          <p:nvPr/>
        </p:nvSpPr>
        <p:spPr>
          <a:xfrm>
            <a:off x="1219170" y="5201564"/>
            <a:ext cx="3609365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双击即用,网络慢/断网/网页打不开一键</a:t>
            </a:r>
            <a:endParaRPr lang="en-US" sz="1620" dirty="0"/>
          </a:p>
        </p:txBody>
      </p:sp>
      <p:sp>
        <p:nvSpPr>
          <p:cNvPr id="20" name="Text 18"/>
          <p:cNvSpPr/>
          <p:nvPr/>
        </p:nvSpPr>
        <p:spPr>
          <a:xfrm>
            <a:off x="1219170" y="5510174"/>
            <a:ext cx="914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出结论。</a:t>
            </a:r>
            <a:endParaRPr lang="en-US" sz="1620" dirty="0"/>
          </a:p>
        </p:txBody>
      </p:sp>
      <p:sp>
        <p:nvSpPr>
          <p:cNvPr id="21" name="Shape 19"/>
          <p:cNvSpPr/>
          <p:nvPr/>
        </p:nvSpPr>
        <p:spPr>
          <a:xfrm>
            <a:off x="1219170" y="6043635"/>
            <a:ext cx="60990" cy="6099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48740" y="5948355"/>
            <a:ext cx="145474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2026.08.31</a:t>
            </a:r>
            <a:endParaRPr lang="en-US" sz="1452" dirty="0"/>
          </a:p>
        </p:txBody>
      </p:sp>
      <p:sp>
        <p:nvSpPr>
          <p:cNvPr id="23" name="Shape 21"/>
          <p:cNvSpPr/>
          <p:nvPr/>
        </p:nvSpPr>
        <p:spPr>
          <a:xfrm>
            <a:off x="5176510" y="3431469"/>
            <a:ext cx="4269791" cy="276834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76510" y="3431469"/>
            <a:ext cx="11593" cy="2768346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8869" y="3431469"/>
            <a:ext cx="73709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能取证</a:t>
            </a:r>
            <a:endParaRPr lang="en-US" sz="1584" dirty="0"/>
          </a:p>
        </p:txBody>
      </p:sp>
      <p:sp>
        <p:nvSpPr>
          <p:cNvPr id="26" name="Text 24"/>
          <p:cNvSpPr/>
          <p:nvPr/>
        </p:nvSpPr>
        <p:spPr>
          <a:xfrm>
            <a:off x="5488869" y="3812271"/>
            <a:ext cx="2830068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90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v1.7 → v1.9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488869" y="4446681"/>
            <a:ext cx="2060692" cy="3093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盯障统计层+抓包</a:t>
            </a:r>
            <a:endParaRPr lang="en-US" sz="2040" dirty="0"/>
          </a:p>
        </p:txBody>
      </p:sp>
      <p:sp>
        <p:nvSpPr>
          <p:cNvPr id="28" name="Text 26"/>
          <p:cNvSpPr/>
          <p:nvPr/>
        </p:nvSpPr>
        <p:spPr>
          <a:xfrm>
            <a:off x="5488869" y="4892954"/>
            <a:ext cx="3741633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 MTU 探测、TCP 重传差分、事件触</a:t>
            </a:r>
            <a:endParaRPr lang="en-US" sz="1620" dirty="0"/>
          </a:p>
        </p:txBody>
      </p:sp>
      <p:sp>
        <p:nvSpPr>
          <p:cNvPr id="29" name="Text 27"/>
          <p:cNvSpPr/>
          <p:nvPr/>
        </p:nvSpPr>
        <p:spPr>
          <a:xfrm>
            <a:off x="5488869" y="5201564"/>
            <a:ext cx="3638169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 pcap 切片三信号判定 PMTU 黑洞;启</a:t>
            </a:r>
            <a:endParaRPr lang="en-US" sz="1620" dirty="0"/>
          </a:p>
        </p:txBody>
      </p:sp>
      <p:sp>
        <p:nvSpPr>
          <p:cNvPr id="30" name="Text 28"/>
          <p:cNvSpPr/>
          <p:nvPr/>
        </p:nvSpPr>
        <p:spPr>
          <a:xfrm>
            <a:off x="5488869" y="5510174"/>
            <a:ext cx="155813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动提速至 3 秒。</a:t>
            </a:r>
            <a:endParaRPr lang="en-US" sz="1620" dirty="0"/>
          </a:p>
        </p:txBody>
      </p:sp>
      <p:sp>
        <p:nvSpPr>
          <p:cNvPr id="31" name="Shape 29"/>
          <p:cNvSpPr/>
          <p:nvPr/>
        </p:nvSpPr>
        <p:spPr>
          <a:xfrm>
            <a:off x="5488869" y="6043635"/>
            <a:ext cx="60990" cy="6099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18439" y="5948355"/>
            <a:ext cx="145474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2026.09.01</a:t>
            </a:r>
            <a:endParaRPr lang="en-US" sz="1452" dirty="0"/>
          </a:p>
        </p:txBody>
      </p:sp>
      <p:sp>
        <p:nvSpPr>
          <p:cNvPr id="33" name="Shape 31"/>
          <p:cNvSpPr/>
          <p:nvPr/>
        </p:nvSpPr>
        <p:spPr>
          <a:xfrm>
            <a:off x="9446301" y="3431469"/>
            <a:ext cx="4269699" cy="276834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46301" y="3431469"/>
            <a:ext cx="11593" cy="2768346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58751" y="3431469"/>
            <a:ext cx="73709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可交付</a:t>
            </a:r>
            <a:endParaRPr lang="en-US" sz="1584" dirty="0"/>
          </a:p>
        </p:txBody>
      </p:sp>
      <p:sp>
        <p:nvSpPr>
          <p:cNvPr id="36" name="Text 34"/>
          <p:cNvSpPr/>
          <p:nvPr/>
        </p:nvSpPr>
        <p:spPr>
          <a:xfrm>
            <a:off x="9758751" y="3812271"/>
            <a:ext cx="3415284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90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v1.10 → v1.14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9758751" y="4446681"/>
            <a:ext cx="2318461" cy="3093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040" b="1" spc="-13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压测增强+现场模式</a:t>
            </a:r>
            <a:endParaRPr lang="en-US" sz="2040" dirty="0"/>
          </a:p>
        </p:txBody>
      </p:sp>
      <p:sp>
        <p:nvSpPr>
          <p:cNvPr id="38" name="Text 36"/>
          <p:cNvSpPr/>
          <p:nvPr/>
        </p:nvSpPr>
        <p:spPr>
          <a:xfrm>
            <a:off x="9758751" y="4892954"/>
            <a:ext cx="377807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TCP 并发 4000 阶梯多目标轮转;NIC 错</a:t>
            </a:r>
            <a:endParaRPr lang="en-US" sz="1620" dirty="0"/>
          </a:p>
        </p:txBody>
      </p:sp>
      <p:sp>
        <p:nvSpPr>
          <p:cNvPr id="39" name="Text 37"/>
          <p:cNvSpPr/>
          <p:nvPr/>
        </p:nvSpPr>
        <p:spPr>
          <a:xfrm>
            <a:off x="9758751" y="5201564"/>
            <a:ext cx="375955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帧检测;现场模式一键出客户报告 PDF,装</a:t>
            </a:r>
            <a:endParaRPr lang="en-US" sz="1620" dirty="0"/>
          </a:p>
        </p:txBody>
      </p:sp>
      <p:sp>
        <p:nvSpPr>
          <p:cNvPr id="40" name="Text 38"/>
          <p:cNvSpPr/>
          <p:nvPr/>
        </p:nvSpPr>
        <p:spPr>
          <a:xfrm>
            <a:off x="9758751" y="5510174"/>
            <a:ext cx="13258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维直接可用。</a:t>
            </a:r>
            <a:endParaRPr lang="en-US" sz="1620" dirty="0"/>
          </a:p>
        </p:txBody>
      </p:sp>
      <p:sp>
        <p:nvSpPr>
          <p:cNvPr id="41" name="Shape 39"/>
          <p:cNvSpPr/>
          <p:nvPr/>
        </p:nvSpPr>
        <p:spPr>
          <a:xfrm>
            <a:off x="9758751" y="6043635"/>
            <a:ext cx="60990" cy="6099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88230" y="5948355"/>
            <a:ext cx="145474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2026.09.07</a:t>
            </a:r>
            <a:endParaRPr lang="en-US" sz="1452" dirty="0"/>
          </a:p>
        </p:txBody>
      </p:sp>
      <p:sp>
        <p:nvSpPr>
          <p:cNvPr id="43" name="Shape 41"/>
          <p:cNvSpPr/>
          <p:nvPr/>
        </p:nvSpPr>
        <p:spPr>
          <a:xfrm>
            <a:off x="914400" y="7109460"/>
            <a:ext cx="12801600" cy="4190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4400" y="7109460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7254210"/>
            <a:ext cx="743763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每一次迭代都来自真实排障现场反馈:先能诊断,再能定位,最后能交付客户。</a:t>
            </a:r>
            <a:endParaRPr lang="en-US" sz="1584" dirty="0"/>
          </a:p>
        </p:txBody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7770" y="1143000"/>
            <a:ext cx="1295430" cy="12954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2620945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2760391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更新重点 · 根因分析引擎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9030523" y="720090"/>
            <a:ext cx="5262235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不是罗列 23 项结果,而是跨模块聚合证据直接给结论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485900"/>
            <a:ext cx="150848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条内置规则</a:t>
            </a:r>
            <a:endParaRPr lang="en-US" sz="1584" dirty="0"/>
          </a:p>
        </p:txBody>
      </p:sp>
      <p:sp>
        <p:nvSpPr>
          <p:cNvPr id="10" name="Text 8"/>
          <p:cNvSpPr/>
          <p:nvPr/>
        </p:nvSpPr>
        <p:spPr>
          <a:xfrm>
            <a:off x="914400" y="1958483"/>
            <a:ext cx="4432554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/ WAN / WiFi,</a:t>
            </a:r>
            <a:endParaRPr lang="en-US" sz="3720" dirty="0"/>
          </a:p>
        </p:txBody>
      </p:sp>
      <p:sp>
        <p:nvSpPr>
          <p:cNvPr id="11" name="Text 9"/>
          <p:cNvSpPr/>
          <p:nvPr/>
        </p:nvSpPr>
        <p:spPr>
          <a:xfrm>
            <a:off x="4848332" y="1944700"/>
            <a:ext cx="1487546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网关丢</a:t>
            </a:r>
            <a:endParaRPr lang="en-US" sz="3720" dirty="0"/>
          </a:p>
        </p:txBody>
      </p:sp>
      <p:sp>
        <p:nvSpPr>
          <p:cNvPr id="12" name="Text 10"/>
          <p:cNvSpPr/>
          <p:nvPr/>
        </p:nvSpPr>
        <p:spPr>
          <a:xfrm>
            <a:off x="914400" y="2454843"/>
            <a:ext cx="2292401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 / NAT,</a:t>
            </a:r>
            <a:endParaRPr lang="en-US" sz="3720" dirty="0"/>
          </a:p>
        </p:txBody>
      </p:sp>
      <p:sp>
        <p:nvSpPr>
          <p:cNvPr id="13" name="Text 11"/>
          <p:cNvSpPr/>
          <p:nvPr/>
        </p:nvSpPr>
        <p:spPr>
          <a:xfrm>
            <a:off x="2782336" y="2468627"/>
            <a:ext cx="2486101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MTU / TCP</a:t>
            </a:r>
            <a:endParaRPr lang="en-US" sz="3720" dirty="0"/>
          </a:p>
        </p:txBody>
      </p:sp>
      <p:sp>
        <p:nvSpPr>
          <p:cNvPr id="14" name="Text 12"/>
          <p:cNvSpPr/>
          <p:nvPr/>
        </p:nvSpPr>
        <p:spPr>
          <a:xfrm>
            <a:off x="914400" y="3115909"/>
            <a:ext cx="565711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每条根因带「为什么这样判断 / 已基本排除」证据链与置信度</a:t>
            </a:r>
            <a:endParaRPr lang="en-US" sz="1620" dirty="0"/>
          </a:p>
        </p:txBody>
      </p:sp>
      <p:sp>
        <p:nvSpPr>
          <p:cNvPr id="15" name="Text 13"/>
          <p:cNvSpPr/>
          <p:nvPr/>
        </p:nvSpPr>
        <p:spPr>
          <a:xfrm>
            <a:off x="914400" y="3620933"/>
            <a:ext cx="3521172" cy="9875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5986"/>
              </a:lnSpc>
              <a:buNone/>
            </a:pPr>
            <a:r>
              <a:rPr lang="en-US" sz="6960" b="1" spc="-20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场景诊断</a:t>
            </a:r>
            <a:endParaRPr lang="en-US" sz="6960" dirty="0"/>
          </a:p>
        </p:txBody>
      </p:sp>
      <p:sp>
        <p:nvSpPr>
          <p:cNvPr id="16" name="Text 14"/>
          <p:cNvSpPr/>
          <p:nvPr/>
        </p:nvSpPr>
        <p:spPr>
          <a:xfrm>
            <a:off x="4435572" y="4178899"/>
            <a:ext cx="156895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个 PROFILE</a:t>
            </a:r>
            <a:endParaRPr lang="en-US" sz="1452" dirty="0"/>
          </a:p>
        </p:txBody>
      </p:sp>
      <p:sp>
        <p:nvSpPr>
          <p:cNvPr id="17" name="Text 15"/>
          <p:cNvSpPr/>
          <p:nvPr/>
        </p:nvSpPr>
        <p:spPr>
          <a:xfrm>
            <a:off x="4435572" y="4453219"/>
            <a:ext cx="1051560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五场景一键诊断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914400" y="4873020"/>
            <a:ext cx="716250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3970" y="4873020"/>
            <a:ext cx="548640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根因卡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722090" y="4873020"/>
            <a:ext cx="716250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51660" y="4873020"/>
            <a:ext cx="548640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29870" y="4873020"/>
            <a:ext cx="716250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59350" y="4873020"/>
            <a:ext cx="548640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报障卡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6714805"/>
            <a:ext cx="5620542" cy="8138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6714805"/>
            <a:ext cx="5620542" cy="23186"/>
          </a:xfrm>
          <a:prstGeom prst="rect">
            <a:avLst/>
          </a:prstGeom>
          <a:solidFill>
            <a:srgbClr val="6E85FF"/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6897685"/>
            <a:ext cx="174197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GAMING 不误报</a:t>
            </a:r>
            <a:endParaRPr lang="en-US" sz="1584" dirty="0"/>
          </a:p>
        </p:txBody>
      </p:sp>
      <p:sp>
        <p:nvSpPr>
          <p:cNvPr id="27" name="Text 25"/>
          <p:cNvSpPr/>
          <p:nvPr/>
        </p:nvSpPr>
        <p:spPr>
          <a:xfrm>
            <a:off x="914400" y="7263445"/>
            <a:ext cx="571198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按场景过滤规则评估,报告与屏幕结论同源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7083582" y="3154680"/>
            <a:ext cx="3429000" cy="22860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3582" y="3154680"/>
            <a:ext cx="3429000" cy="228600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10634563" y="3154680"/>
            <a:ext cx="3429000" cy="22860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34563" y="3154680"/>
            <a:ext cx="3429000" cy="22860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10652303" y="5562570"/>
            <a:ext cx="3314014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健康分 · 证据链 · 一句话报障卡</a:t>
            </a:r>
            <a:endParaRPr lang="en-US" sz="158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2211476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2294138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更新重点 · 盯障模式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1195822" y="720090"/>
            <a:ext cx="290834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抓普通诊断抓不到的偶发掉线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485900"/>
            <a:ext cx="100222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抖动窗口</a:t>
            </a:r>
            <a:endParaRPr lang="en-US" sz="1584" dirty="0"/>
          </a:p>
        </p:txBody>
      </p:sp>
      <p:sp>
        <p:nvSpPr>
          <p:cNvPr id="10" name="Text 8"/>
          <p:cNvSpPr/>
          <p:nvPr/>
        </p:nvSpPr>
        <p:spPr>
          <a:xfrm>
            <a:off x="914400" y="1944700"/>
            <a:ext cx="3393186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 MTU 探测,</a:t>
            </a:r>
            <a:endParaRPr lang="en-US" sz="3720" dirty="0"/>
          </a:p>
        </p:txBody>
      </p:sp>
      <p:sp>
        <p:nvSpPr>
          <p:cNvPr id="11" name="Text 9"/>
          <p:cNvSpPr/>
          <p:nvPr/>
        </p:nvSpPr>
        <p:spPr>
          <a:xfrm>
            <a:off x="4182740" y="1944700"/>
            <a:ext cx="2075078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TCP 重传</a:t>
            </a:r>
            <a:endParaRPr lang="en-US" sz="3720" dirty="0"/>
          </a:p>
        </p:txBody>
      </p:sp>
      <p:sp>
        <p:nvSpPr>
          <p:cNvPr id="12" name="Text 10"/>
          <p:cNvSpPr/>
          <p:nvPr/>
        </p:nvSpPr>
        <p:spPr>
          <a:xfrm>
            <a:off x="914400" y="2454843"/>
            <a:ext cx="1276655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差分,</a:t>
            </a:r>
            <a:endParaRPr lang="en-US" sz="3720" dirty="0"/>
          </a:p>
        </p:txBody>
      </p:sp>
      <p:sp>
        <p:nvSpPr>
          <p:cNvPr id="13" name="Text 11"/>
          <p:cNvSpPr/>
          <p:nvPr/>
        </p:nvSpPr>
        <p:spPr>
          <a:xfrm>
            <a:off x="1988363" y="2454843"/>
            <a:ext cx="2883560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抓包切片取证</a:t>
            </a:r>
            <a:endParaRPr lang="en-US" sz="3720" dirty="0"/>
          </a:p>
        </p:txBody>
      </p:sp>
      <p:sp>
        <p:nvSpPr>
          <p:cNvPr id="14" name="Text 12"/>
          <p:cNvSpPr/>
          <p:nvPr/>
        </p:nvSpPr>
        <p:spPr>
          <a:xfrm>
            <a:off x="914400" y="3153948"/>
            <a:ext cx="5528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60s 窗口抖动检测 + 二分 MTU 探测 + 30s 重传采样,偶发故障</a:t>
            </a:r>
            <a:endParaRPr lang="en-US" sz="1620" dirty="0"/>
          </a:p>
        </p:txBody>
      </p:sp>
      <p:sp>
        <p:nvSpPr>
          <p:cNvPr id="15" name="Text 13"/>
          <p:cNvSpPr/>
          <p:nvPr/>
        </p:nvSpPr>
        <p:spPr>
          <a:xfrm>
            <a:off x="914400" y="3462558"/>
            <a:ext cx="914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无处藏身</a:t>
            </a:r>
            <a:endParaRPr lang="en-US" sz="1620" dirty="0"/>
          </a:p>
        </p:txBody>
      </p:sp>
      <p:sp>
        <p:nvSpPr>
          <p:cNvPr id="16" name="Text 14"/>
          <p:cNvSpPr/>
          <p:nvPr/>
        </p:nvSpPr>
        <p:spPr>
          <a:xfrm>
            <a:off x="914400" y="3929543"/>
            <a:ext cx="3786835" cy="9875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5986"/>
              </a:lnSpc>
              <a:buNone/>
            </a:pPr>
            <a:r>
              <a:rPr lang="en-US" sz="6960" b="1" spc="-20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NIC 错帧</a:t>
            </a:r>
            <a:endParaRPr lang="en-US" sz="6960" dirty="0"/>
          </a:p>
        </p:txBody>
      </p:sp>
      <p:sp>
        <p:nvSpPr>
          <p:cNvPr id="17" name="Text 15"/>
          <p:cNvSpPr/>
          <p:nvPr/>
        </p:nvSpPr>
        <p:spPr>
          <a:xfrm>
            <a:off x="4432828" y="4487509"/>
            <a:ext cx="1250309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V1.11 新增</a:t>
            </a:r>
            <a:endParaRPr lang="en-US" sz="1452" dirty="0"/>
          </a:p>
        </p:txBody>
      </p:sp>
      <p:sp>
        <p:nvSpPr>
          <p:cNvPr id="18" name="Text 16"/>
          <p:cNvSpPr/>
          <p:nvPr/>
        </p:nvSpPr>
        <p:spPr>
          <a:xfrm>
            <a:off x="4432828" y="4761829"/>
            <a:ext cx="966338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CRC 错帧实锤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914400" y="5181630"/>
            <a:ext cx="1021110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3970" y="5181630"/>
            <a:ext cx="853410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事件时间轴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026950" y="5181630"/>
            <a:ext cx="868680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56430" y="5181630"/>
            <a:ext cx="701070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分段定位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87070" y="5181630"/>
            <a:ext cx="1015167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16550" y="5181630"/>
            <a:ext cx="847466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 切片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6449629"/>
            <a:ext cx="5620542" cy="10789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6449629"/>
            <a:ext cx="5620542" cy="23186"/>
          </a:xfrm>
          <a:prstGeom prst="rect">
            <a:avLst/>
          </a:prstGeom>
          <a:solidFill>
            <a:srgbClr val="6E85FF"/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6632509"/>
            <a:ext cx="138847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强制百兆命令</a:t>
            </a:r>
            <a:endParaRPr lang="en-US" sz="1584" dirty="0"/>
          </a:p>
        </p:txBody>
      </p:sp>
      <p:sp>
        <p:nvSpPr>
          <p:cNvPr id="28" name="Text 26"/>
          <p:cNvSpPr/>
          <p:nvPr/>
        </p:nvSpPr>
        <p:spPr>
          <a:xfrm>
            <a:off x="914400" y="7028718"/>
            <a:ext cx="5587258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网卡错误计数 30s 差分——抓包看不到的链路层错包,计数器是唯一证</a:t>
            </a:r>
            <a:endParaRPr lang="en-US" sz="1440" dirty="0"/>
          </a:p>
        </p:txBody>
      </p:sp>
      <p:sp>
        <p:nvSpPr>
          <p:cNvPr id="29" name="Text 27"/>
          <p:cNvSpPr/>
          <p:nvPr/>
        </p:nvSpPr>
        <p:spPr>
          <a:xfrm>
            <a:off x="914400" y="7293894"/>
            <a:ext cx="285293" cy="2255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据</a:t>
            </a:r>
            <a:endParaRPr lang="en-US" sz="1440" dirty="0"/>
          </a:p>
        </p:txBody>
      </p:sp>
      <p:sp>
        <p:nvSpPr>
          <p:cNvPr id="30" name="Shape 28"/>
          <p:cNvSpPr/>
          <p:nvPr/>
        </p:nvSpPr>
        <p:spPr>
          <a:xfrm>
            <a:off x="7083582" y="3154680"/>
            <a:ext cx="3429000" cy="22860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3582" y="3154680"/>
            <a:ext cx="3429000" cy="2286000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10634563" y="3154680"/>
            <a:ext cx="3429000" cy="22860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34563" y="3154680"/>
            <a:ext cx="3429000" cy="228600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1135197" y="5562570"/>
            <a:ext cx="3074213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--MONITOR / --CAPTURE</a:t>
            </a:r>
            <a:endParaRPr lang="en-US" sz="158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2620945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2760391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更新重点 · 现场检测模式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0373685" y="720090"/>
            <a:ext cx="3713790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装维上门一键流程 V1.13 → V1.14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485900"/>
            <a:ext cx="104602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--SITE</a:t>
            </a:r>
            <a:endParaRPr lang="en-US" sz="1584" dirty="0"/>
          </a:p>
        </p:txBody>
      </p:sp>
      <p:sp>
        <p:nvSpPr>
          <p:cNvPr id="10" name="Text 8"/>
          <p:cNvSpPr/>
          <p:nvPr/>
        </p:nvSpPr>
        <p:spPr>
          <a:xfrm>
            <a:off x="914400" y="1944700"/>
            <a:ext cx="2252442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诊断+勾选</a:t>
            </a:r>
            <a:endParaRPr lang="en-US" sz="3720" dirty="0"/>
          </a:p>
        </p:txBody>
      </p:sp>
      <p:sp>
        <p:nvSpPr>
          <p:cNvPr id="11" name="Text 9"/>
          <p:cNvSpPr/>
          <p:nvPr/>
        </p:nvSpPr>
        <p:spPr>
          <a:xfrm>
            <a:off x="3075402" y="1944700"/>
            <a:ext cx="2075078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 PDF</a:t>
            </a:r>
            <a:endParaRPr lang="en-US" sz="3720" dirty="0"/>
          </a:p>
        </p:txBody>
      </p:sp>
      <p:sp>
        <p:nvSpPr>
          <p:cNvPr id="12" name="Text 10"/>
          <p:cNvSpPr/>
          <p:nvPr/>
        </p:nvSpPr>
        <p:spPr>
          <a:xfrm>
            <a:off x="5056358" y="1944700"/>
            <a:ext cx="1487546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</a:t>
            </a:r>
            <a:endParaRPr lang="en-US" sz="3720" dirty="0"/>
          </a:p>
        </p:txBody>
      </p:sp>
      <p:sp>
        <p:nvSpPr>
          <p:cNvPr id="13" name="Text 11"/>
          <p:cNvSpPr/>
          <p:nvPr/>
        </p:nvSpPr>
        <p:spPr>
          <a:xfrm>
            <a:off x="914400" y="2643805"/>
            <a:ext cx="5496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输入客户与签约带宽 → 全量诊断(排除压测) → 机房 6 项勾选</a:t>
            </a:r>
            <a:endParaRPr lang="en-US" sz="1620" dirty="0"/>
          </a:p>
        </p:txBody>
      </p:sp>
      <p:sp>
        <p:nvSpPr>
          <p:cNvPr id="14" name="Text 12"/>
          <p:cNvSpPr/>
          <p:nvPr/>
        </p:nvSpPr>
        <p:spPr>
          <a:xfrm>
            <a:off x="914400" y="2952415"/>
            <a:ext cx="4363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62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一页客户报告/完整版/JSON/PDF 自动落地。</a:t>
            </a:r>
            <a:endParaRPr lang="en-US" sz="1620" dirty="0"/>
          </a:p>
        </p:txBody>
      </p:sp>
      <p:sp>
        <p:nvSpPr>
          <p:cNvPr id="15" name="Text 13"/>
          <p:cNvSpPr/>
          <p:nvPr/>
        </p:nvSpPr>
        <p:spPr>
          <a:xfrm>
            <a:off x="914400" y="3457712"/>
            <a:ext cx="675437" cy="9875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5986"/>
              </a:lnSpc>
              <a:buNone/>
            </a:pPr>
            <a:r>
              <a:rPr lang="en-US" sz="6960" b="1" spc="-200" kern="0" dirty="0">
                <a:solidFill>
                  <a:srgbClr val="6E8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960" dirty="0"/>
          </a:p>
        </p:txBody>
      </p:sp>
      <p:sp>
        <p:nvSpPr>
          <p:cNvPr id="16" name="Text 14"/>
          <p:cNvSpPr/>
          <p:nvPr/>
        </p:nvSpPr>
        <p:spPr>
          <a:xfrm>
            <a:off x="1533632" y="3977274"/>
            <a:ext cx="48578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2" spc="99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件套</a:t>
            </a:r>
            <a:endParaRPr lang="en-US" sz="1452" dirty="0"/>
          </a:p>
        </p:txBody>
      </p:sp>
      <p:sp>
        <p:nvSpPr>
          <p:cNvPr id="17" name="Text 15"/>
          <p:cNvSpPr/>
          <p:nvPr/>
        </p:nvSpPr>
        <p:spPr>
          <a:xfrm>
            <a:off x="1533632" y="4251594"/>
            <a:ext cx="1696669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PDF/HTML/完整版/JSON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914400" y="4671395"/>
            <a:ext cx="866851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3970" y="4671395"/>
            <a:ext cx="743712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机房 6 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72691" y="4671395"/>
            <a:ext cx="1173450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02262" y="4671395"/>
            <a:ext cx="1005840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签约达标判定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37672" y="4671395"/>
            <a:ext cx="1262512" cy="37335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7151" y="4671395"/>
            <a:ext cx="1133856" cy="4007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检测明细 21 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6714805"/>
            <a:ext cx="5620542" cy="8138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6714805"/>
            <a:ext cx="5620542" cy="23186"/>
          </a:xfrm>
          <a:prstGeom prst="rect">
            <a:avLst/>
          </a:prstGeom>
          <a:solidFill>
            <a:srgbClr val="6E85FF"/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6897685"/>
            <a:ext cx="1066602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 能力</a:t>
            </a:r>
            <a:endParaRPr lang="en-US" sz="1584" dirty="0"/>
          </a:p>
        </p:txBody>
      </p:sp>
      <p:sp>
        <p:nvSpPr>
          <p:cNvPr id="27" name="Text 25"/>
          <p:cNvSpPr/>
          <p:nvPr/>
        </p:nvSpPr>
        <p:spPr>
          <a:xfrm>
            <a:off x="914400" y="7263445"/>
            <a:ext cx="5657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Chrome→Edge→默认浏览器探测链,Windows 自带,零额外安装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7083582" y="3154680"/>
            <a:ext cx="3429000" cy="22860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3582" y="3154680"/>
            <a:ext cx="3429000" cy="228600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10634563" y="3154680"/>
            <a:ext cx="3429000" cy="22860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34563" y="3154680"/>
            <a:ext cx="3429000" cy="22860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10425623" y="5562570"/>
            <a:ext cx="360730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左图:真实现场报告(80 分 · B 级)</a:t>
            </a:r>
            <a:endParaRPr lang="en-US" sz="158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0"/>
            <a:ext cx="1820845" cy="312450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1440" y="0"/>
            <a:ext cx="1934733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1615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报告是给客户看的</a:t>
            </a:r>
            <a:endParaRPr lang="en-US" sz="1584" dirty="0"/>
          </a:p>
        </p:txBody>
      </p:sp>
      <p:sp>
        <p:nvSpPr>
          <p:cNvPr id="10" name="Text 6"/>
          <p:cNvSpPr/>
          <p:nvPr/>
        </p:nvSpPr>
        <p:spPr>
          <a:xfrm>
            <a:off x="12658862" y="19020"/>
            <a:ext cx="197153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F4F3EF">
                    <a:alpha val="74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技术细节单独存 JSON</a:t>
            </a:r>
            <a:endParaRPr lang="en-US" sz="1584" dirty="0"/>
          </a:p>
        </p:txBody>
      </p:sp>
      <p:sp>
        <p:nvSpPr>
          <p:cNvPr id="11" name="Text 7"/>
          <p:cNvSpPr/>
          <p:nvPr/>
        </p:nvSpPr>
        <p:spPr>
          <a:xfrm>
            <a:off x="914400" y="3624499"/>
            <a:ext cx="1692905" cy="317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16" spc="117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健康分 0-100</a:t>
            </a:r>
            <a:endParaRPr lang="en-US" sz="1716" dirty="0"/>
          </a:p>
        </p:txBody>
      </p:sp>
      <p:sp>
        <p:nvSpPr>
          <p:cNvPr id="12" name="Text 8"/>
          <p:cNvSpPr/>
          <p:nvPr/>
        </p:nvSpPr>
        <p:spPr>
          <a:xfrm>
            <a:off x="914400" y="4042105"/>
            <a:ext cx="4533290" cy="7894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5741"/>
              </a:lnSpc>
              <a:buNone/>
            </a:pPr>
            <a:r>
              <a:rPr lang="en-US" sz="5520" b="1" spc="-138" kern="0" dirty="0">
                <a:solidFill>
                  <a:srgbClr val="F4F3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待办问题清单,</a:t>
            </a:r>
            <a:endParaRPr lang="en-US" sz="5520" dirty="0"/>
          </a:p>
        </p:txBody>
      </p:sp>
      <p:sp>
        <p:nvSpPr>
          <p:cNvPr id="13" name="Text 9"/>
          <p:cNvSpPr/>
          <p:nvPr/>
        </p:nvSpPr>
        <p:spPr>
          <a:xfrm>
            <a:off x="914400" y="4771064"/>
            <a:ext cx="2514295" cy="7894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5741"/>
              </a:lnSpc>
              <a:buNone/>
            </a:pPr>
            <a:r>
              <a:rPr lang="en-US" sz="5520" b="1" spc="-138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证据链,</a:t>
            </a:r>
            <a:endParaRPr lang="en-US" sz="5520" dirty="0"/>
          </a:p>
        </p:txBody>
      </p:sp>
      <p:sp>
        <p:nvSpPr>
          <p:cNvPr id="14" name="Text 10"/>
          <p:cNvSpPr/>
          <p:nvPr/>
        </p:nvSpPr>
        <p:spPr>
          <a:xfrm>
            <a:off x="3194914" y="4771064"/>
            <a:ext cx="2152498" cy="7894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5741"/>
              </a:lnSpc>
              <a:buNone/>
            </a:pPr>
            <a:r>
              <a:rPr lang="en-US" sz="5520" b="1" spc="-138" kern="0" dirty="0">
                <a:solidFill>
                  <a:srgbClr val="F4F3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报障卡</a:t>
            </a:r>
            <a:endParaRPr lang="en-US" sz="5520" dirty="0"/>
          </a:p>
        </p:txBody>
      </p:sp>
      <p:sp>
        <p:nvSpPr>
          <p:cNvPr id="15" name="Text 11"/>
          <p:cNvSpPr/>
          <p:nvPr/>
        </p:nvSpPr>
        <p:spPr>
          <a:xfrm>
            <a:off x="914400" y="5746867"/>
            <a:ext cx="6138093" cy="2636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680" dirty="0">
                <a:solidFill>
                  <a:srgbClr val="F4F3EF">
                    <a:alpha val="74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异常-20/警告-2,环境缺测不记过;每张根因卡带建议复测命令,可直</a:t>
            </a:r>
            <a:endParaRPr lang="en-US" sz="1680" dirty="0"/>
          </a:p>
        </p:txBody>
      </p:sp>
      <p:sp>
        <p:nvSpPr>
          <p:cNvPr id="16" name="Text 12"/>
          <p:cNvSpPr/>
          <p:nvPr/>
        </p:nvSpPr>
        <p:spPr>
          <a:xfrm>
            <a:off x="914400" y="6066907"/>
            <a:ext cx="137160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680" dirty="0">
                <a:solidFill>
                  <a:srgbClr val="F4F3EF">
                    <a:alpha val="74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接复制发客服</a:t>
            </a:r>
            <a:endParaRPr lang="en-US" sz="1680" dirty="0"/>
          </a:p>
        </p:txBody>
      </p:sp>
      <p:sp>
        <p:nvSpPr>
          <p:cNvPr id="17" name="Shape 13"/>
          <p:cNvSpPr/>
          <p:nvPr/>
        </p:nvSpPr>
        <p:spPr>
          <a:xfrm>
            <a:off x="914400" y="6713250"/>
            <a:ext cx="4451116" cy="8153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4F3E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14400" y="6713250"/>
            <a:ext cx="4451116" cy="11593"/>
          </a:xfrm>
          <a:prstGeom prst="rect">
            <a:avLst/>
          </a:prstGeom>
          <a:solidFill>
            <a:srgbClr val="F4F3EF">
              <a:alpha val="24000"/>
            </a:srgbClr>
          </a:solidFill>
          <a:ln w="12700">
            <a:solidFill>
              <a:srgbClr val="F4F3E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14400" y="6888450"/>
            <a:ext cx="1224107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2126914" y="6888450"/>
            <a:ext cx="11593" cy="640080"/>
          </a:xfrm>
          <a:prstGeom prst="rect">
            <a:avLst/>
          </a:prstGeom>
          <a:solidFill>
            <a:srgbClr val="F4F3EF">
              <a:alpha val="24000"/>
            </a:srgbClr>
          </a:solidFill>
          <a:ln w="12700">
            <a:solidFill>
              <a:srgbClr val="F4F3EF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14400" y="6888450"/>
            <a:ext cx="1057656" cy="3550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00" b="1" spc="-30" kern="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0-100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914400" y="7246620"/>
            <a:ext cx="501834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F4F3EF">
                    <a:alpha val="74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健康分</a:t>
            </a:r>
            <a:endParaRPr lang="en-US" sz="990" dirty="0"/>
          </a:p>
        </p:txBody>
      </p:sp>
      <p:sp>
        <p:nvSpPr>
          <p:cNvPr id="23" name="Shape 19"/>
          <p:cNvSpPr/>
          <p:nvPr/>
        </p:nvSpPr>
        <p:spPr>
          <a:xfrm>
            <a:off x="2504267" y="6888450"/>
            <a:ext cx="917875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10549" y="6888450"/>
            <a:ext cx="11593" cy="640080"/>
          </a:xfrm>
          <a:prstGeom prst="rect">
            <a:avLst/>
          </a:prstGeom>
          <a:solidFill>
            <a:srgbClr val="F4F3EF">
              <a:alpha val="24000"/>
            </a:srgbClr>
          </a:solidFill>
          <a:ln w="12700">
            <a:solidFill>
              <a:srgbClr val="F4F3E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504267" y="6974266"/>
            <a:ext cx="694944" cy="3550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00" b="1" spc="-30" kern="0" dirty="0">
                <a:solidFill>
                  <a:srgbClr val="F4F3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条</a:t>
            </a:r>
            <a:endParaRPr lang="en-US" sz="2400" dirty="0"/>
          </a:p>
        </p:txBody>
      </p:sp>
      <p:sp>
        <p:nvSpPr>
          <p:cNvPr id="26" name="Text 22"/>
          <p:cNvSpPr/>
          <p:nvPr/>
        </p:nvSpPr>
        <p:spPr>
          <a:xfrm>
            <a:off x="2504267" y="7360920"/>
            <a:ext cx="637537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F4F3EF">
                    <a:alpha val="74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根因规则</a:t>
            </a:r>
            <a:endParaRPr lang="en-US" sz="990" dirty="0"/>
          </a:p>
        </p:txBody>
      </p:sp>
      <p:sp>
        <p:nvSpPr>
          <p:cNvPr id="27" name="Text 23"/>
          <p:cNvSpPr/>
          <p:nvPr/>
        </p:nvSpPr>
        <p:spPr>
          <a:xfrm>
            <a:off x="3787811" y="6974266"/>
            <a:ext cx="987552" cy="3550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00" b="1" spc="-30" kern="0" dirty="0">
                <a:solidFill>
                  <a:srgbClr val="F4F3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格式</a:t>
            </a:r>
            <a:endParaRPr lang="en-US" sz="2400" dirty="0"/>
          </a:p>
        </p:txBody>
      </p:sp>
      <p:sp>
        <p:nvSpPr>
          <p:cNvPr id="28" name="Text 24"/>
          <p:cNvSpPr/>
          <p:nvPr/>
        </p:nvSpPr>
        <p:spPr>
          <a:xfrm>
            <a:off x="3787811" y="7360920"/>
            <a:ext cx="637537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F4F3EF">
                    <a:alpha val="74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报告导出</a:t>
            </a:r>
            <a:endParaRPr lang="en-US" sz="990" dirty="0"/>
          </a:p>
        </p:txBody>
      </p:sp>
      <p:sp>
        <p:nvSpPr>
          <p:cNvPr id="29" name="Text 25"/>
          <p:cNvSpPr/>
          <p:nvPr/>
        </p:nvSpPr>
        <p:spPr>
          <a:xfrm>
            <a:off x="11469045" y="950449"/>
            <a:ext cx="2246955" cy="2183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12480"/>
              </a:lnSpc>
              <a:buNone/>
            </a:pPr>
            <a:r>
              <a:rPr lang="en-US" sz="15600" b="1" spc="-200" kern="0" dirty="0">
                <a:solidFill>
                  <a:srgbClr val="6E8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⅓</a:t>
            </a:r>
            <a:endParaRPr lang="en-US" sz="15600" dirty="0"/>
          </a:p>
        </p:txBody>
      </p:sp>
      <p:sp>
        <p:nvSpPr>
          <p:cNvPr id="30" name="Text 26"/>
          <p:cNvSpPr/>
          <p:nvPr/>
        </p:nvSpPr>
        <p:spPr>
          <a:xfrm>
            <a:off x="11090605" y="2834640"/>
            <a:ext cx="2625395" cy="2484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320" spc="90" kern="0" dirty="0">
                <a:solidFill>
                  <a:srgbClr val="F4F3EF">
                    <a:alpha val="74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 / JSON / PDF 三格式</a:t>
            </a:r>
            <a:endParaRPr lang="en-US" sz="13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2211476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2294138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完整功能 · 诊断模块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0264597" y="720090"/>
            <a:ext cx="3941384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按装维工作流分三大类,菜单/CLI 同源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365512"/>
            <a:ext cx="4040429" cy="537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项诊断模块全景</a:t>
            </a:r>
            <a:endParaRPr lang="en-US" sz="3720" dirty="0"/>
          </a:p>
        </p:txBody>
      </p:sp>
      <p:sp>
        <p:nvSpPr>
          <p:cNvPr id="10" name="Text 8"/>
          <p:cNvSpPr/>
          <p:nvPr/>
        </p:nvSpPr>
        <p:spPr>
          <a:xfrm>
            <a:off x="4982840" y="1600200"/>
            <a:ext cx="3003713" cy="2255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a=基础信息 b=宽带测速 c=故障诊断</a:t>
            </a:r>
            <a:endParaRPr lang="en-US" sz="1440" dirty="0"/>
          </a:p>
        </p:txBody>
      </p:sp>
      <p:sp>
        <p:nvSpPr>
          <p:cNvPr id="11" name="Shape 9"/>
          <p:cNvSpPr/>
          <p:nvPr/>
        </p:nvSpPr>
        <p:spPr>
          <a:xfrm>
            <a:off x="914400" y="3994739"/>
            <a:ext cx="355976" cy="355976"/>
          </a:xfrm>
          <a:prstGeom prst="rect">
            <a:avLst/>
          </a:prstGeom>
          <a:solidFill>
            <a:srgbClr val="46443F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46637" y="3994739"/>
            <a:ext cx="355976" cy="355976"/>
          </a:xfrm>
          <a:prstGeom prst="rect">
            <a:avLst/>
          </a:prstGeom>
          <a:solidFill>
            <a:srgbClr val="46443F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8782" y="3994739"/>
            <a:ext cx="355976" cy="355976"/>
          </a:xfrm>
          <a:prstGeom prst="rect">
            <a:avLst/>
          </a:prstGeom>
          <a:solidFill>
            <a:srgbClr val="46443F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11019" y="3994739"/>
            <a:ext cx="355976" cy="355976"/>
          </a:xfrm>
          <a:prstGeom prst="rect">
            <a:avLst/>
          </a:prstGeom>
          <a:solidFill>
            <a:srgbClr val="46443F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3165" y="3994739"/>
            <a:ext cx="355976" cy="355976"/>
          </a:xfrm>
          <a:prstGeom prst="rect">
            <a:avLst/>
          </a:prstGeom>
          <a:solidFill>
            <a:srgbClr val="46443F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75402" y="3994739"/>
            <a:ext cx="355976" cy="355976"/>
          </a:xfrm>
          <a:prstGeom prst="rect">
            <a:avLst/>
          </a:prstGeom>
          <a:solidFill>
            <a:srgbClr val="46443F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07547" y="3994739"/>
            <a:ext cx="355976" cy="355976"/>
          </a:xfrm>
          <a:prstGeom prst="rect">
            <a:avLst/>
          </a:prstGeom>
          <a:solidFill>
            <a:srgbClr val="605E59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9784" y="3994739"/>
            <a:ext cx="355976" cy="355976"/>
          </a:xfrm>
          <a:prstGeom prst="rect">
            <a:avLst/>
          </a:prstGeom>
          <a:solidFill>
            <a:srgbClr val="605E59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2021" y="3994739"/>
            <a:ext cx="355976" cy="355976"/>
          </a:xfrm>
          <a:prstGeom prst="rect">
            <a:avLst/>
          </a:prstGeom>
          <a:solidFill>
            <a:srgbClr val="84827C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4166" y="3994739"/>
            <a:ext cx="355976" cy="355976"/>
          </a:xfrm>
          <a:prstGeom prst="rect">
            <a:avLst/>
          </a:prstGeom>
          <a:solidFill>
            <a:srgbClr val="84827C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36403" y="3994739"/>
            <a:ext cx="355976" cy="355976"/>
          </a:xfrm>
          <a:prstGeom prst="rect">
            <a:avLst/>
          </a:prstGeom>
          <a:solidFill>
            <a:srgbClr val="A9A7A1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8548" y="3994739"/>
            <a:ext cx="355976" cy="355976"/>
          </a:xfrm>
          <a:prstGeom prst="rect">
            <a:avLst/>
          </a:prstGeom>
          <a:solidFill>
            <a:srgbClr val="A9A7A1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00785" y="3994739"/>
            <a:ext cx="355976" cy="355976"/>
          </a:xfrm>
          <a:prstGeom prst="rect">
            <a:avLst/>
          </a:prstGeom>
          <a:solidFill>
            <a:srgbClr val="A9A7A1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32931" y="3994739"/>
            <a:ext cx="355976" cy="355976"/>
          </a:xfrm>
          <a:prstGeom prst="rect">
            <a:avLst/>
          </a:prstGeom>
          <a:solidFill>
            <a:srgbClr val="A9A7A1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426976"/>
            <a:ext cx="355976" cy="355976"/>
          </a:xfrm>
          <a:prstGeom prst="rect">
            <a:avLst/>
          </a:prstGeom>
          <a:solidFill>
            <a:srgbClr val="A9A7A1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46637" y="4426976"/>
            <a:ext cx="355976" cy="355976"/>
          </a:xfrm>
          <a:prstGeom prst="rect">
            <a:avLst/>
          </a:prstGeom>
          <a:solidFill>
            <a:srgbClr val="A9A7A1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8782" y="4426976"/>
            <a:ext cx="355976" cy="355976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0D1330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211019" y="4426976"/>
            <a:ext cx="355976" cy="355976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0D1330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643165" y="4426976"/>
            <a:ext cx="355976" cy="355976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0D1330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075402" y="4426976"/>
            <a:ext cx="355976" cy="355976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12700" dir="16200000">
              <a:srgbClr val="0D1330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07547" y="4426976"/>
            <a:ext cx="355976" cy="355976"/>
          </a:xfrm>
          <a:prstGeom prst="rect">
            <a:avLst/>
          </a:prstGeom>
          <a:solidFill>
            <a:srgbClr val="ECE9E2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939784" y="4426976"/>
            <a:ext cx="355976" cy="355976"/>
          </a:xfrm>
          <a:prstGeom prst="rect">
            <a:avLst/>
          </a:prstGeom>
          <a:solidFill>
            <a:srgbClr val="ECE9E2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72021" y="4426976"/>
            <a:ext cx="355976" cy="355976"/>
          </a:xfrm>
          <a:prstGeom prst="rect">
            <a:avLst/>
          </a:prstGeom>
          <a:solidFill>
            <a:srgbClr val="ECE9E2">
              <a:alpha val="3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4166" y="4426976"/>
            <a:ext cx="355976" cy="3559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>
                <a:alpha val="1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36403" y="4426976"/>
            <a:ext cx="355976" cy="3559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>
                <a:alpha val="1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8548" y="4426976"/>
            <a:ext cx="355976" cy="3559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>
                <a:alpha val="1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00785" y="4426976"/>
            <a:ext cx="355976" cy="3559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>
                <a:alpha val="1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32931" y="4426976"/>
            <a:ext cx="355976" cy="3559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>
                <a:alpha val="1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920112"/>
            <a:ext cx="4568434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8" spc="81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支持单模块、分类字母、ALL 全量;并行模式下带宽敏感模块独占串行</a:t>
            </a:r>
            <a:endParaRPr lang="en-US" sz="1188" dirty="0"/>
          </a:p>
        </p:txBody>
      </p:sp>
      <p:sp>
        <p:nvSpPr>
          <p:cNvPr id="40" name="Shape 38"/>
          <p:cNvSpPr/>
          <p:nvPr/>
        </p:nvSpPr>
        <p:spPr>
          <a:xfrm>
            <a:off x="8535741" y="2064624"/>
            <a:ext cx="5180259" cy="498384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35741" y="2064624"/>
            <a:ext cx="11593" cy="4983846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09091" y="2617196"/>
            <a:ext cx="4806909" cy="6476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09091" y="3253272"/>
            <a:ext cx="4806909" cy="11593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09091" y="2838206"/>
            <a:ext cx="198150" cy="198150"/>
          </a:xfrm>
          <a:prstGeom prst="rect">
            <a:avLst/>
          </a:prstGeom>
          <a:solidFill>
            <a:srgbClr val="4644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29131" y="2744480"/>
            <a:ext cx="883950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56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基础信息</a:t>
            </a:r>
            <a:endParaRPr lang="en-US" sz="1560" dirty="0"/>
          </a:p>
        </p:txBody>
      </p:sp>
      <p:sp>
        <p:nvSpPr>
          <p:cNvPr id="46" name="Text 44"/>
          <p:cNvSpPr/>
          <p:nvPr/>
        </p:nvSpPr>
        <p:spPr>
          <a:xfrm>
            <a:off x="9229131" y="2962382"/>
            <a:ext cx="1610916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LINKSPEED…EGRESS</a:t>
            </a:r>
            <a:endParaRPr lang="en-US" sz="990" dirty="0"/>
          </a:p>
        </p:txBody>
      </p:sp>
      <p:sp>
        <p:nvSpPr>
          <p:cNvPr id="47" name="Text 45"/>
          <p:cNvSpPr/>
          <p:nvPr/>
        </p:nvSpPr>
        <p:spPr>
          <a:xfrm>
            <a:off x="13293090" y="2723906"/>
            <a:ext cx="256032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3485571" y="2792486"/>
            <a:ext cx="23042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990" dirty="0"/>
          </a:p>
        </p:txBody>
      </p:sp>
      <p:sp>
        <p:nvSpPr>
          <p:cNvPr id="49" name="Text 47"/>
          <p:cNvSpPr/>
          <p:nvPr/>
        </p:nvSpPr>
        <p:spPr>
          <a:xfrm>
            <a:off x="13266207" y="2967777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个</a:t>
            </a:r>
            <a:endParaRPr lang="en-US" sz="1056" dirty="0"/>
          </a:p>
        </p:txBody>
      </p:sp>
      <p:sp>
        <p:nvSpPr>
          <p:cNvPr id="50" name="Text 48"/>
          <p:cNvSpPr/>
          <p:nvPr/>
        </p:nvSpPr>
        <p:spPr>
          <a:xfrm>
            <a:off x="13391144" y="2967777"/>
            <a:ext cx="19556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6" dirty="0"/>
          </a:p>
        </p:txBody>
      </p:sp>
      <p:sp>
        <p:nvSpPr>
          <p:cNvPr id="51" name="Text 49"/>
          <p:cNvSpPr/>
          <p:nvPr/>
        </p:nvSpPr>
        <p:spPr>
          <a:xfrm>
            <a:off x="13477524" y="2967777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1056" dirty="0"/>
          </a:p>
        </p:txBody>
      </p:sp>
      <p:sp>
        <p:nvSpPr>
          <p:cNvPr id="52" name="Shape 50"/>
          <p:cNvSpPr/>
          <p:nvPr/>
        </p:nvSpPr>
        <p:spPr>
          <a:xfrm>
            <a:off x="8909091" y="3264957"/>
            <a:ext cx="4806909" cy="6476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909091" y="3901033"/>
            <a:ext cx="4806909" cy="11593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09091" y="3485876"/>
            <a:ext cx="198150" cy="198150"/>
          </a:xfrm>
          <a:prstGeom prst="rect">
            <a:avLst/>
          </a:prstGeom>
          <a:solidFill>
            <a:srgbClr val="605E5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29131" y="3392241"/>
            <a:ext cx="883950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56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宽带测速</a:t>
            </a:r>
            <a:endParaRPr lang="en-US" sz="1560" dirty="0"/>
          </a:p>
        </p:txBody>
      </p:sp>
      <p:sp>
        <p:nvSpPr>
          <p:cNvPr id="56" name="Text 54"/>
          <p:cNvSpPr/>
          <p:nvPr/>
        </p:nvSpPr>
        <p:spPr>
          <a:xfrm>
            <a:off x="9229131" y="3610051"/>
            <a:ext cx="1515447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SPEEDTEST/BLOAT</a:t>
            </a:r>
            <a:endParaRPr lang="en-US" sz="990" dirty="0"/>
          </a:p>
        </p:txBody>
      </p:sp>
      <p:sp>
        <p:nvSpPr>
          <p:cNvPr id="57" name="Text 55"/>
          <p:cNvSpPr/>
          <p:nvPr/>
        </p:nvSpPr>
        <p:spPr>
          <a:xfrm>
            <a:off x="13293090" y="3371576"/>
            <a:ext cx="256032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3485571" y="3440156"/>
            <a:ext cx="23042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990" dirty="0"/>
          </a:p>
        </p:txBody>
      </p:sp>
      <p:sp>
        <p:nvSpPr>
          <p:cNvPr id="59" name="Text 57"/>
          <p:cNvSpPr/>
          <p:nvPr/>
        </p:nvSpPr>
        <p:spPr>
          <a:xfrm>
            <a:off x="13266207" y="361544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个</a:t>
            </a:r>
            <a:endParaRPr lang="en-US" sz="1056" dirty="0"/>
          </a:p>
        </p:txBody>
      </p:sp>
      <p:sp>
        <p:nvSpPr>
          <p:cNvPr id="60" name="Text 58"/>
          <p:cNvSpPr/>
          <p:nvPr/>
        </p:nvSpPr>
        <p:spPr>
          <a:xfrm>
            <a:off x="13391144" y="3615446"/>
            <a:ext cx="19556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6" dirty="0"/>
          </a:p>
        </p:txBody>
      </p:sp>
      <p:sp>
        <p:nvSpPr>
          <p:cNvPr id="61" name="Text 59"/>
          <p:cNvSpPr/>
          <p:nvPr/>
        </p:nvSpPr>
        <p:spPr>
          <a:xfrm>
            <a:off x="13477524" y="361544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1056" dirty="0"/>
          </a:p>
        </p:txBody>
      </p:sp>
      <p:sp>
        <p:nvSpPr>
          <p:cNvPr id="62" name="Shape 60"/>
          <p:cNvSpPr/>
          <p:nvPr/>
        </p:nvSpPr>
        <p:spPr>
          <a:xfrm>
            <a:off x="8909091" y="3912626"/>
            <a:ext cx="4806909" cy="6476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909091" y="4548703"/>
            <a:ext cx="4806909" cy="11593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09091" y="4133637"/>
            <a:ext cx="198150" cy="198150"/>
          </a:xfrm>
          <a:prstGeom prst="rect">
            <a:avLst/>
          </a:prstGeom>
          <a:solidFill>
            <a:srgbClr val="84827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229131" y="4039911"/>
            <a:ext cx="883950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56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吞吐压测</a:t>
            </a:r>
            <a:endParaRPr lang="en-US" sz="1560" dirty="0"/>
          </a:p>
        </p:txBody>
      </p:sp>
      <p:sp>
        <p:nvSpPr>
          <p:cNvPr id="66" name="Text 64"/>
          <p:cNvSpPr/>
          <p:nvPr/>
        </p:nvSpPr>
        <p:spPr>
          <a:xfrm>
            <a:off x="9229131" y="4257812"/>
            <a:ext cx="122903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IPERF3/TCPCC</a:t>
            </a:r>
            <a:endParaRPr lang="en-US" sz="990" dirty="0"/>
          </a:p>
        </p:txBody>
      </p:sp>
      <p:sp>
        <p:nvSpPr>
          <p:cNvPr id="67" name="Text 65"/>
          <p:cNvSpPr/>
          <p:nvPr/>
        </p:nvSpPr>
        <p:spPr>
          <a:xfrm>
            <a:off x="13293090" y="4019337"/>
            <a:ext cx="256032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13485571" y="4087917"/>
            <a:ext cx="23042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990" dirty="0"/>
          </a:p>
        </p:txBody>
      </p:sp>
      <p:sp>
        <p:nvSpPr>
          <p:cNvPr id="69" name="Text 67"/>
          <p:cNvSpPr/>
          <p:nvPr/>
        </p:nvSpPr>
        <p:spPr>
          <a:xfrm>
            <a:off x="13266207" y="426311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个</a:t>
            </a:r>
            <a:endParaRPr lang="en-US" sz="1056" dirty="0"/>
          </a:p>
        </p:txBody>
      </p:sp>
      <p:sp>
        <p:nvSpPr>
          <p:cNvPr id="70" name="Text 68"/>
          <p:cNvSpPr/>
          <p:nvPr/>
        </p:nvSpPr>
        <p:spPr>
          <a:xfrm>
            <a:off x="13391144" y="4263116"/>
            <a:ext cx="19556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6" dirty="0"/>
          </a:p>
        </p:txBody>
      </p:sp>
      <p:sp>
        <p:nvSpPr>
          <p:cNvPr id="71" name="Text 69"/>
          <p:cNvSpPr/>
          <p:nvPr/>
        </p:nvSpPr>
        <p:spPr>
          <a:xfrm>
            <a:off x="13477524" y="426311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1056" dirty="0"/>
          </a:p>
        </p:txBody>
      </p:sp>
      <p:sp>
        <p:nvSpPr>
          <p:cNvPr id="72" name="Shape 70"/>
          <p:cNvSpPr/>
          <p:nvPr/>
        </p:nvSpPr>
        <p:spPr>
          <a:xfrm>
            <a:off x="8909091" y="4560296"/>
            <a:ext cx="4806909" cy="6476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909091" y="5196372"/>
            <a:ext cx="4806909" cy="11593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909091" y="4781306"/>
            <a:ext cx="198150" cy="198150"/>
          </a:xfrm>
          <a:prstGeom prst="rect">
            <a:avLst/>
          </a:prstGeom>
          <a:solidFill>
            <a:srgbClr val="A9A7A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229131" y="4687580"/>
            <a:ext cx="883950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56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连通诊断</a:t>
            </a:r>
            <a:endParaRPr lang="en-US" sz="1560" dirty="0"/>
          </a:p>
        </p:txBody>
      </p:sp>
      <p:sp>
        <p:nvSpPr>
          <p:cNvPr id="76" name="Text 74"/>
          <p:cNvSpPr/>
          <p:nvPr/>
        </p:nvSpPr>
        <p:spPr>
          <a:xfrm>
            <a:off x="9229131" y="4905482"/>
            <a:ext cx="111093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GW/DNS/WEB…</a:t>
            </a:r>
            <a:endParaRPr lang="en-US" sz="990" dirty="0"/>
          </a:p>
        </p:txBody>
      </p:sp>
      <p:sp>
        <p:nvSpPr>
          <p:cNvPr id="77" name="Text 75"/>
          <p:cNvSpPr/>
          <p:nvPr/>
        </p:nvSpPr>
        <p:spPr>
          <a:xfrm>
            <a:off x="13293090" y="4667006"/>
            <a:ext cx="256032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13485571" y="4735586"/>
            <a:ext cx="23042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990" dirty="0"/>
          </a:p>
        </p:txBody>
      </p:sp>
      <p:sp>
        <p:nvSpPr>
          <p:cNvPr id="79" name="Text 77"/>
          <p:cNvSpPr/>
          <p:nvPr/>
        </p:nvSpPr>
        <p:spPr>
          <a:xfrm>
            <a:off x="13266207" y="4910877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个</a:t>
            </a:r>
            <a:endParaRPr lang="en-US" sz="1056" dirty="0"/>
          </a:p>
        </p:txBody>
      </p:sp>
      <p:sp>
        <p:nvSpPr>
          <p:cNvPr id="80" name="Text 78"/>
          <p:cNvSpPr/>
          <p:nvPr/>
        </p:nvSpPr>
        <p:spPr>
          <a:xfrm>
            <a:off x="13391144" y="4910877"/>
            <a:ext cx="19556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6" dirty="0"/>
          </a:p>
        </p:txBody>
      </p:sp>
      <p:sp>
        <p:nvSpPr>
          <p:cNvPr id="81" name="Text 79"/>
          <p:cNvSpPr/>
          <p:nvPr/>
        </p:nvSpPr>
        <p:spPr>
          <a:xfrm>
            <a:off x="13477524" y="4910877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1056" dirty="0"/>
          </a:p>
        </p:txBody>
      </p:sp>
      <p:sp>
        <p:nvSpPr>
          <p:cNvPr id="82" name="Shape 80"/>
          <p:cNvSpPr/>
          <p:nvPr/>
        </p:nvSpPr>
        <p:spPr>
          <a:xfrm>
            <a:off x="8909091" y="5208057"/>
            <a:ext cx="4806909" cy="6476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909091" y="5844133"/>
            <a:ext cx="4806909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909091" y="5428976"/>
            <a:ext cx="198150" cy="198150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29131" y="5335341"/>
            <a:ext cx="883950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560" b="1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传输质量</a:t>
            </a:r>
            <a:endParaRPr lang="en-US" sz="1560" dirty="0"/>
          </a:p>
        </p:txBody>
      </p:sp>
      <p:sp>
        <p:nvSpPr>
          <p:cNvPr id="86" name="Text 84"/>
          <p:cNvSpPr/>
          <p:nvPr/>
        </p:nvSpPr>
        <p:spPr>
          <a:xfrm>
            <a:off x="9229131" y="5553151"/>
            <a:ext cx="1492815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TCP/PORT/ROUTE…</a:t>
            </a:r>
            <a:endParaRPr lang="en-US" sz="990" dirty="0"/>
          </a:p>
        </p:txBody>
      </p:sp>
      <p:sp>
        <p:nvSpPr>
          <p:cNvPr id="87" name="Text 85"/>
          <p:cNvSpPr/>
          <p:nvPr/>
        </p:nvSpPr>
        <p:spPr>
          <a:xfrm>
            <a:off x="13293090" y="5314676"/>
            <a:ext cx="256032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E8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88" name="Text 86"/>
          <p:cNvSpPr/>
          <p:nvPr/>
        </p:nvSpPr>
        <p:spPr>
          <a:xfrm>
            <a:off x="13485571" y="5383256"/>
            <a:ext cx="23042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990" dirty="0"/>
          </a:p>
        </p:txBody>
      </p:sp>
      <p:sp>
        <p:nvSpPr>
          <p:cNvPr id="89" name="Text 87"/>
          <p:cNvSpPr/>
          <p:nvPr/>
        </p:nvSpPr>
        <p:spPr>
          <a:xfrm>
            <a:off x="13266207" y="555854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个</a:t>
            </a:r>
            <a:endParaRPr lang="en-US" sz="1056" dirty="0"/>
          </a:p>
        </p:txBody>
      </p:sp>
      <p:sp>
        <p:nvSpPr>
          <p:cNvPr id="90" name="Text 88"/>
          <p:cNvSpPr/>
          <p:nvPr/>
        </p:nvSpPr>
        <p:spPr>
          <a:xfrm>
            <a:off x="13391144" y="5558546"/>
            <a:ext cx="19556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6" dirty="0"/>
          </a:p>
        </p:txBody>
      </p:sp>
      <p:sp>
        <p:nvSpPr>
          <p:cNvPr id="91" name="Text 89"/>
          <p:cNvSpPr/>
          <p:nvPr/>
        </p:nvSpPr>
        <p:spPr>
          <a:xfrm>
            <a:off x="13477524" y="555854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1056" dirty="0"/>
          </a:p>
        </p:txBody>
      </p:sp>
      <p:sp>
        <p:nvSpPr>
          <p:cNvPr id="92" name="Shape 90"/>
          <p:cNvSpPr/>
          <p:nvPr/>
        </p:nvSpPr>
        <p:spPr>
          <a:xfrm>
            <a:off x="8909091" y="6076737"/>
            <a:ext cx="198150" cy="198150"/>
          </a:xfrm>
          <a:prstGeom prst="rect">
            <a:avLst/>
          </a:prstGeom>
          <a:solidFill>
            <a:srgbClr val="ECE9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29131" y="5983011"/>
            <a:ext cx="883950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56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安全探测</a:t>
            </a:r>
            <a:endParaRPr lang="en-US" sz="1560" dirty="0"/>
          </a:p>
        </p:txBody>
      </p:sp>
      <p:sp>
        <p:nvSpPr>
          <p:cNvPr id="94" name="Text 92"/>
          <p:cNvSpPr/>
          <p:nvPr/>
        </p:nvSpPr>
        <p:spPr>
          <a:xfrm>
            <a:off x="9229131" y="6200912"/>
            <a:ext cx="169506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MTU/PROXY/NATTYPE</a:t>
            </a:r>
            <a:endParaRPr lang="en-US" sz="990" dirty="0"/>
          </a:p>
        </p:txBody>
      </p:sp>
      <p:sp>
        <p:nvSpPr>
          <p:cNvPr id="95" name="Text 93"/>
          <p:cNvSpPr/>
          <p:nvPr/>
        </p:nvSpPr>
        <p:spPr>
          <a:xfrm>
            <a:off x="13293090" y="5962437"/>
            <a:ext cx="256032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485571" y="6031017"/>
            <a:ext cx="23042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90" spc="68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990" dirty="0"/>
          </a:p>
        </p:txBody>
      </p:sp>
      <p:sp>
        <p:nvSpPr>
          <p:cNvPr id="97" name="Text 95"/>
          <p:cNvSpPr/>
          <p:nvPr/>
        </p:nvSpPr>
        <p:spPr>
          <a:xfrm>
            <a:off x="13266207" y="620621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个</a:t>
            </a:r>
            <a:endParaRPr lang="en-US" sz="1056" dirty="0"/>
          </a:p>
        </p:txBody>
      </p:sp>
      <p:sp>
        <p:nvSpPr>
          <p:cNvPr id="98" name="Text 96"/>
          <p:cNvSpPr/>
          <p:nvPr/>
        </p:nvSpPr>
        <p:spPr>
          <a:xfrm>
            <a:off x="13391144" y="6206216"/>
            <a:ext cx="19556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6" dirty="0"/>
          </a:p>
        </p:txBody>
      </p:sp>
      <p:sp>
        <p:nvSpPr>
          <p:cNvPr id="99" name="Text 97"/>
          <p:cNvSpPr/>
          <p:nvPr/>
        </p:nvSpPr>
        <p:spPr>
          <a:xfrm>
            <a:off x="13477524" y="6206216"/>
            <a:ext cx="238476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056" spc="72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</a:t>
            </a:r>
            <a:endParaRPr lang="en-US" sz="1056" dirty="0"/>
          </a:p>
        </p:txBody>
      </p:sp>
      <p:sp>
        <p:nvSpPr>
          <p:cNvPr id="100" name="Shape 98"/>
          <p:cNvSpPr/>
          <p:nvPr/>
        </p:nvSpPr>
        <p:spPr>
          <a:xfrm>
            <a:off x="914400" y="7124730"/>
            <a:ext cx="12801600" cy="40389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4400" y="7124730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14400" y="7254210"/>
            <a:ext cx="954222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全量口径</a:t>
            </a:r>
            <a:endParaRPr lang="en-US" sz="1584" dirty="0"/>
          </a:p>
        </p:txBody>
      </p:sp>
      <p:sp>
        <p:nvSpPr>
          <p:cNvPr id="103" name="Text 101"/>
          <p:cNvSpPr/>
          <p:nvPr/>
        </p:nvSpPr>
        <p:spPr>
          <a:xfrm>
            <a:off x="1826971" y="7275424"/>
            <a:ext cx="2421971" cy="259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7"/>
              </a:lnSpc>
              <a:buNone/>
            </a:pPr>
            <a:r>
              <a:rPr lang="en-US" sz="126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基础6 /测速2 /压测2 /诊断6 /传输7</a:t>
            </a:r>
            <a:endParaRPr lang="en-US" sz="1260" dirty="0"/>
          </a:p>
        </p:txBody>
      </p:sp>
      <p:pic>
        <p:nvPicPr>
          <p:cNvPr id="10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0" y="88395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2211476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2294138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使用介绍 · 运行方式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2552883" y="720090"/>
            <a:ext cx="138847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按场景选入口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365512"/>
            <a:ext cx="3348990" cy="537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四种用法怎么选</a:t>
            </a:r>
            <a:endParaRPr lang="en-US" sz="3720" dirty="0"/>
          </a:p>
        </p:txBody>
      </p:sp>
      <p:sp>
        <p:nvSpPr>
          <p:cNvPr id="10" name="Text 8"/>
          <p:cNvSpPr/>
          <p:nvPr/>
        </p:nvSpPr>
        <p:spPr>
          <a:xfrm>
            <a:off x="4324380" y="1600200"/>
            <a:ext cx="4033236" cy="2255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新手双击即用,工程师参数精控,装维现场一键交付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 rot="10800000">
            <a:off x="921990" y="4104284"/>
            <a:ext cx="249906" cy="794796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>
            <a:normAutofit/>
          </a:bodyPr>
          <a:lstStyle/>
          <a:p>
            <a:pPr algn="l" indent="0" marL="0">
              <a:buNone/>
            </a:pPr>
            <a:r>
              <a:rPr lang="en-US" sz="1254" spc="86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自动化程度</a:t>
            </a:r>
            <a:endParaRPr lang="en-US" sz="1254" dirty="0"/>
          </a:p>
        </p:txBody>
      </p:sp>
      <p:sp>
        <p:nvSpPr>
          <p:cNvPr id="12" name="Shape 10"/>
          <p:cNvSpPr/>
          <p:nvPr/>
        </p:nvSpPr>
        <p:spPr>
          <a:xfrm>
            <a:off x="1249710" y="1912285"/>
            <a:ext cx="12466290" cy="487713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F3F2EE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919874"/>
            <a:ext cx="12451110" cy="486195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175772" y="2026585"/>
            <a:ext cx="52797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6" b="1" spc="72" kern="0" dirty="0">
                <a:solidFill>
                  <a:srgbClr val="5F8F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推荐区</a:t>
            </a:r>
            <a:endParaRPr lang="en-US" sz="1056" dirty="0"/>
          </a:p>
        </p:txBody>
      </p:sp>
      <p:sp>
        <p:nvSpPr>
          <p:cNvPr id="15" name="Text 12"/>
          <p:cNvSpPr/>
          <p:nvPr/>
        </p:nvSpPr>
        <p:spPr>
          <a:xfrm>
            <a:off x="1379190" y="6492240"/>
            <a:ext cx="383225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6" b="1" spc="72" kern="0" dirty="0">
                <a:solidFill>
                  <a:srgbClr val="B04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避免</a:t>
            </a:r>
            <a:endParaRPr lang="en-US" sz="1056" dirty="0"/>
          </a:p>
        </p:txBody>
      </p:sp>
      <p:sp>
        <p:nvSpPr>
          <p:cNvPr id="16" name="Shape 13"/>
          <p:cNvSpPr/>
          <p:nvPr/>
        </p:nvSpPr>
        <p:spPr>
          <a:xfrm>
            <a:off x="1915759" y="2515240"/>
            <a:ext cx="365760" cy="365760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50099" y="2538100"/>
            <a:ext cx="701070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场景菜单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350099" y="2705710"/>
            <a:ext cx="1524231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双击 EXE,按现象一键诊断</a:t>
            </a:r>
            <a:endParaRPr lang="en-US" sz="858" dirty="0"/>
          </a:p>
        </p:txBody>
      </p:sp>
      <p:sp>
        <p:nvSpPr>
          <p:cNvPr id="19" name="Shape 16"/>
          <p:cNvSpPr/>
          <p:nvPr/>
        </p:nvSpPr>
        <p:spPr>
          <a:xfrm>
            <a:off x="4228460" y="2866278"/>
            <a:ext cx="324521" cy="324521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21560" y="2868564"/>
            <a:ext cx="947928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--diagnose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621560" y="3036174"/>
            <a:ext cx="1345749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脚本/远程执行场景诊断</a:t>
            </a:r>
            <a:endParaRPr lang="en-US" sz="858" dirty="0"/>
          </a:p>
        </p:txBody>
      </p:sp>
      <p:sp>
        <p:nvSpPr>
          <p:cNvPr id="22" name="Shape 19"/>
          <p:cNvSpPr/>
          <p:nvPr/>
        </p:nvSpPr>
        <p:spPr>
          <a:xfrm>
            <a:off x="5702930" y="2317913"/>
            <a:ext cx="288036" cy="288036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9546" y="2301911"/>
            <a:ext cx="612648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--site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059546" y="2469612"/>
            <a:ext cx="1406622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现场全量+客户报告 PDF</a:t>
            </a:r>
            <a:endParaRPr lang="en-US" sz="858" dirty="0"/>
          </a:p>
        </p:txBody>
      </p:sp>
      <p:sp>
        <p:nvSpPr>
          <p:cNvPr id="25" name="Shape 22"/>
          <p:cNvSpPr/>
          <p:nvPr/>
        </p:nvSpPr>
        <p:spPr>
          <a:xfrm>
            <a:off x="6806885" y="3177083"/>
            <a:ext cx="269657" cy="269657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45122" y="3151937"/>
            <a:ext cx="864108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--monitor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145122" y="3319546"/>
            <a:ext cx="1155207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长时盯障抓偶发掉线</a:t>
            </a:r>
            <a:endParaRPr lang="en-US" sz="858" dirty="0"/>
          </a:p>
        </p:txBody>
      </p:sp>
      <p:sp>
        <p:nvSpPr>
          <p:cNvPr id="28" name="Shape 25"/>
          <p:cNvSpPr/>
          <p:nvPr/>
        </p:nvSpPr>
        <p:spPr>
          <a:xfrm>
            <a:off x="3570641" y="3986693"/>
            <a:ext cx="255941" cy="255941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895161" y="3954689"/>
            <a:ext cx="853410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工程师菜单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3895161" y="4122298"/>
            <a:ext cx="1504617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[9] 单模块/分类自由组合</a:t>
            </a:r>
            <a:endParaRPr lang="en-US" sz="858" dirty="0"/>
          </a:p>
        </p:txBody>
      </p:sp>
      <p:sp>
        <p:nvSpPr>
          <p:cNvPr id="31" name="Shape 28"/>
          <p:cNvSpPr/>
          <p:nvPr/>
        </p:nvSpPr>
        <p:spPr>
          <a:xfrm>
            <a:off x="6010717" y="4463369"/>
            <a:ext cx="246797" cy="246797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326094" y="4426885"/>
            <a:ext cx="890016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 单模块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326094" y="4594494"/>
            <a:ext cx="1754718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NETPULSE GATEWAY DNS…</a:t>
            </a:r>
            <a:endParaRPr lang="en-US" sz="858" dirty="0"/>
          </a:p>
        </p:txBody>
      </p:sp>
      <p:sp>
        <p:nvSpPr>
          <p:cNvPr id="34" name="Shape 31"/>
          <p:cNvSpPr/>
          <p:nvPr/>
        </p:nvSpPr>
        <p:spPr>
          <a:xfrm>
            <a:off x="9048079" y="3646993"/>
            <a:ext cx="274320" cy="274320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90979" y="3624133"/>
            <a:ext cx="612648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--json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390979" y="3791742"/>
            <a:ext cx="1658977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/ RMM 机器可读</a:t>
            </a:r>
            <a:endParaRPr lang="en-US" sz="858" dirty="0"/>
          </a:p>
        </p:txBody>
      </p:sp>
      <p:sp>
        <p:nvSpPr>
          <p:cNvPr id="37" name="Shape 34"/>
          <p:cNvSpPr/>
          <p:nvPr/>
        </p:nvSpPr>
        <p:spPr>
          <a:xfrm>
            <a:off x="7995331" y="4933371"/>
            <a:ext cx="251460" cy="251460"/>
          </a:xfrm>
          <a:prstGeom prst="ellipse">
            <a:avLst/>
          </a:prstGeom>
          <a:solidFill>
            <a:srgbClr val="6E85FF">
              <a:alpha val="18000"/>
            </a:srgbClr>
          </a:solidFill>
          <a:ln w="19050">
            <a:solidFill>
              <a:srgbClr val="6E85F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15371" y="4899081"/>
            <a:ext cx="780288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--export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315371" y="5066690"/>
            <a:ext cx="1349885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HTML/JSON 报告归档</a:t>
            </a:r>
            <a:endParaRPr lang="en-US" sz="858" dirty="0"/>
          </a:p>
        </p:txBody>
      </p:sp>
      <p:sp>
        <p:nvSpPr>
          <p:cNvPr id="40" name="Shape 37"/>
          <p:cNvSpPr/>
          <p:nvPr/>
        </p:nvSpPr>
        <p:spPr>
          <a:xfrm>
            <a:off x="2875331" y="5836615"/>
            <a:ext cx="333756" cy="333756"/>
          </a:xfrm>
          <a:prstGeom prst="ellipse">
            <a:avLst/>
          </a:prstGeom>
          <a:solidFill>
            <a:srgbClr val="B04A2F">
              <a:alpha val="15000"/>
            </a:srgbClr>
          </a:solidFill>
          <a:ln w="19050">
            <a:solidFill>
              <a:srgbClr val="B04A2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77575" y="5843382"/>
            <a:ext cx="853410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客户网压测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3277575" y="6011083"/>
            <a:ext cx="1671037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--SITE 已自动排除 TCPCC</a:t>
            </a:r>
            <a:endParaRPr lang="en-US" sz="858" dirty="0"/>
          </a:p>
        </p:txBody>
      </p:sp>
      <p:sp>
        <p:nvSpPr>
          <p:cNvPr id="43" name="Shape 40"/>
          <p:cNvSpPr/>
          <p:nvPr/>
        </p:nvSpPr>
        <p:spPr>
          <a:xfrm>
            <a:off x="6703375" y="5641665"/>
            <a:ext cx="251460" cy="251460"/>
          </a:xfrm>
          <a:prstGeom prst="ellipse">
            <a:avLst/>
          </a:prstGeom>
          <a:solidFill>
            <a:srgbClr val="B04A2F">
              <a:alpha val="15000"/>
            </a:srgbClr>
          </a:solidFill>
          <a:ln w="19050">
            <a:solidFill>
              <a:srgbClr val="B04A2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023415" y="5607375"/>
            <a:ext cx="1141476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盯障反复跑 all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7023415" y="5774985"/>
            <a:ext cx="1390425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带宽敏感模块会互相干扰</a:t>
            </a:r>
            <a:endParaRPr lang="en-US" sz="858" dirty="0"/>
          </a:p>
        </p:txBody>
      </p:sp>
      <p:sp>
        <p:nvSpPr>
          <p:cNvPr id="46" name="Shape 43"/>
          <p:cNvSpPr/>
          <p:nvPr/>
        </p:nvSpPr>
        <p:spPr>
          <a:xfrm>
            <a:off x="6672834" y="6017209"/>
            <a:ext cx="255941" cy="255941"/>
          </a:xfrm>
          <a:prstGeom prst="ellipse">
            <a:avLst/>
          </a:prstGeom>
          <a:solidFill>
            <a:srgbClr val="B04A2F">
              <a:alpha val="15000"/>
            </a:srgbClr>
          </a:solidFill>
          <a:ln w="19050">
            <a:solidFill>
              <a:srgbClr val="B04A2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997446" y="5985114"/>
            <a:ext cx="702564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 导出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6997446" y="6152815"/>
            <a:ext cx="1540427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8" spc="59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已废弃,改用 HTML/JSON</a:t>
            </a:r>
            <a:endParaRPr lang="en-US" sz="858" dirty="0"/>
          </a:p>
        </p:txBody>
      </p:sp>
      <p:sp>
        <p:nvSpPr>
          <p:cNvPr id="49" name="Text 46"/>
          <p:cNvSpPr/>
          <p:nvPr/>
        </p:nvSpPr>
        <p:spPr>
          <a:xfrm>
            <a:off x="7004761" y="6850410"/>
            <a:ext cx="956097" cy="24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4" spc="86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上手门槛 →</a:t>
            </a:r>
            <a:endParaRPr lang="en-US" sz="1254" dirty="0"/>
          </a:p>
        </p:txBody>
      </p:sp>
      <p:sp>
        <p:nvSpPr>
          <p:cNvPr id="50" name="Shape 47"/>
          <p:cNvSpPr/>
          <p:nvPr/>
        </p:nvSpPr>
        <p:spPr>
          <a:xfrm>
            <a:off x="914400" y="7124730"/>
            <a:ext cx="12801600" cy="40389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14400" y="7124730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14400" y="7254210"/>
            <a:ext cx="519974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原则</a:t>
            </a:r>
            <a:endParaRPr lang="en-US" sz="1584" dirty="0"/>
          </a:p>
        </p:txBody>
      </p:sp>
      <p:sp>
        <p:nvSpPr>
          <p:cNvPr id="53" name="Text 50"/>
          <p:cNvSpPr/>
          <p:nvPr/>
        </p:nvSpPr>
        <p:spPr>
          <a:xfrm>
            <a:off x="1439357" y="7275424"/>
            <a:ext cx="3441436" cy="259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7"/>
              </a:lnSpc>
              <a:buNone/>
            </a:pPr>
            <a:r>
              <a:rPr lang="en-US" sz="126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关键功能在命令行窗口内全部可达,不强迫记参数</a:t>
            </a:r>
            <a:endParaRPr lang="en-US" sz="1260" dirty="0"/>
          </a:p>
        </p:txBody>
      </p:sp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5960" y="838230"/>
            <a:ext cx="899130" cy="8991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1411376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1468481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真实环境截图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1971233" y="720090"/>
            <a:ext cx="2039844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全部为本机实跑产出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357929"/>
            <a:ext cx="2183740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上手即用:</a:t>
            </a:r>
            <a:endParaRPr lang="en-US" sz="3720" dirty="0"/>
          </a:p>
        </p:txBody>
      </p:sp>
      <p:sp>
        <p:nvSpPr>
          <p:cNvPr id="10" name="Text 8"/>
          <p:cNvSpPr/>
          <p:nvPr/>
        </p:nvSpPr>
        <p:spPr>
          <a:xfrm>
            <a:off x="2926537" y="1357929"/>
            <a:ext cx="2883560" cy="5379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五种界面实拍</a:t>
            </a:r>
            <a:endParaRPr lang="en-US" sz="3720" dirty="0"/>
          </a:p>
        </p:txBody>
      </p:sp>
      <p:sp>
        <p:nvSpPr>
          <p:cNvPr id="11" name="Text 9"/>
          <p:cNvSpPr/>
          <p:nvPr/>
        </p:nvSpPr>
        <p:spPr>
          <a:xfrm>
            <a:off x="5871088" y="1600200"/>
            <a:ext cx="4725619" cy="2255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双击即用;工程师按分类组合;测速/盯障/现场各自独立报告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914400" y="3207075"/>
            <a:ext cx="2743200" cy="18288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3207075"/>
            <a:ext cx="27432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779490" y="3207075"/>
            <a:ext cx="2743200" cy="18288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79490" y="3207075"/>
            <a:ext cx="2743200" cy="18288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44670" y="3207075"/>
            <a:ext cx="2743200" cy="18288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44670" y="3207075"/>
            <a:ext cx="2743200" cy="18288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509760" y="3207075"/>
            <a:ext cx="2743200" cy="18288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509760" y="3207075"/>
            <a:ext cx="2743200" cy="1828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2374850" y="3207075"/>
            <a:ext cx="2255550" cy="1828800"/>
          </a:xfrm>
          <a:prstGeom prst="rect">
            <a:avLst/>
          </a:prstGeom>
          <a:solidFill>
            <a:srgbClr val="F3F2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374850" y="3207075"/>
            <a:ext cx="2255550" cy="18288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914400" y="6391747"/>
            <a:ext cx="2403318" cy="11367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6391747"/>
            <a:ext cx="2403318" cy="34779"/>
          </a:xfrm>
          <a:prstGeom prst="rect">
            <a:avLst/>
          </a:prstGeom>
          <a:solidFill>
            <a:srgbClr val="6E85FF"/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3306124" y="6391747"/>
            <a:ext cx="11593" cy="1136782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914400" y="6591361"/>
            <a:ext cx="996787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b="1" spc="-22" kern="0" dirty="0">
                <a:solidFill>
                  <a:srgbClr val="6E8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场景菜单</a:t>
            </a:r>
            <a:endParaRPr lang="en-US" sz="1800" dirty="0"/>
          </a:p>
        </p:txBody>
      </p:sp>
      <p:sp>
        <p:nvSpPr>
          <p:cNvPr id="26" name="Text 19"/>
          <p:cNvSpPr/>
          <p:nvPr/>
        </p:nvSpPr>
        <p:spPr>
          <a:xfrm>
            <a:off x="2587661" y="6666067"/>
            <a:ext cx="602350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五图实拍</a:t>
            </a:r>
            <a:endParaRPr lang="en-US" sz="924" dirty="0"/>
          </a:p>
        </p:txBody>
      </p:sp>
      <p:sp>
        <p:nvSpPr>
          <p:cNvPr id="27" name="Text 20"/>
          <p:cNvSpPr/>
          <p:nvPr/>
        </p:nvSpPr>
        <p:spPr>
          <a:xfrm>
            <a:off x="3040106" y="6666067"/>
            <a:ext cx="184831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24" dirty="0"/>
          </a:p>
        </p:txBody>
      </p:sp>
      <p:sp>
        <p:nvSpPr>
          <p:cNvPr id="28" name="Text 21"/>
          <p:cNvSpPr/>
          <p:nvPr/>
        </p:nvSpPr>
        <p:spPr>
          <a:xfrm>
            <a:off x="914400" y="6917527"/>
            <a:ext cx="637537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双击入口</a:t>
            </a:r>
            <a:endParaRPr lang="en-US" sz="990" dirty="0"/>
          </a:p>
        </p:txBody>
      </p:sp>
      <p:sp>
        <p:nvSpPr>
          <p:cNvPr id="29" name="Text 22"/>
          <p:cNvSpPr/>
          <p:nvPr/>
        </p:nvSpPr>
        <p:spPr>
          <a:xfrm>
            <a:off x="914400" y="7153717"/>
            <a:ext cx="1775490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无参数启动,按现象选择场景</a:t>
            </a:r>
            <a:endParaRPr lang="en-US" sz="1080" dirty="0"/>
          </a:p>
        </p:txBody>
      </p:sp>
      <p:sp>
        <p:nvSpPr>
          <p:cNvPr id="30" name="Shape 23"/>
          <p:cNvSpPr/>
          <p:nvPr/>
        </p:nvSpPr>
        <p:spPr>
          <a:xfrm>
            <a:off x="3515777" y="6391747"/>
            <a:ext cx="2403409" cy="11367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515777" y="6391747"/>
            <a:ext cx="2403409" cy="34779"/>
          </a:xfrm>
          <a:prstGeom prst="rect">
            <a:avLst/>
          </a:prstGeom>
          <a:solidFill>
            <a:srgbClr val="F3F2EE">
              <a:alpha val="5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907592" y="6391747"/>
            <a:ext cx="11593" cy="1136782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515777" y="6591361"/>
            <a:ext cx="996787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b="1" spc="-22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模块清单</a:t>
            </a:r>
            <a:endParaRPr lang="en-US" sz="1800" dirty="0"/>
          </a:p>
        </p:txBody>
      </p:sp>
      <p:sp>
        <p:nvSpPr>
          <p:cNvPr id="34" name="Text 27"/>
          <p:cNvSpPr/>
          <p:nvPr/>
        </p:nvSpPr>
        <p:spPr>
          <a:xfrm>
            <a:off x="5189220" y="6666067"/>
            <a:ext cx="602350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五图实拍</a:t>
            </a:r>
            <a:endParaRPr lang="en-US" sz="924" dirty="0"/>
          </a:p>
        </p:txBody>
      </p:sp>
      <p:sp>
        <p:nvSpPr>
          <p:cNvPr id="35" name="Text 28"/>
          <p:cNvSpPr/>
          <p:nvPr/>
        </p:nvSpPr>
        <p:spPr>
          <a:xfrm>
            <a:off x="5641665" y="6666067"/>
            <a:ext cx="184831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24" dirty="0"/>
          </a:p>
        </p:txBody>
      </p:sp>
      <p:sp>
        <p:nvSpPr>
          <p:cNvPr id="36" name="Text 29"/>
          <p:cNvSpPr/>
          <p:nvPr/>
        </p:nvSpPr>
        <p:spPr>
          <a:xfrm>
            <a:off x="3515777" y="6917527"/>
            <a:ext cx="64490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--LIST</a:t>
            </a:r>
            <a:endParaRPr lang="en-US" sz="990" dirty="0"/>
          </a:p>
        </p:txBody>
      </p:sp>
      <p:sp>
        <p:nvSpPr>
          <p:cNvPr id="37" name="Text 30"/>
          <p:cNvSpPr/>
          <p:nvPr/>
        </p:nvSpPr>
        <p:spPr>
          <a:xfrm>
            <a:off x="3515777" y="7153717"/>
            <a:ext cx="2248052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个模块三类分组,分类字母快捷运</a:t>
            </a:r>
            <a:endParaRPr lang="en-US" sz="1080" dirty="0"/>
          </a:p>
        </p:txBody>
      </p:sp>
      <p:sp>
        <p:nvSpPr>
          <p:cNvPr id="38" name="Text 31"/>
          <p:cNvSpPr/>
          <p:nvPr/>
        </p:nvSpPr>
        <p:spPr>
          <a:xfrm>
            <a:off x="3515777" y="7352599"/>
            <a:ext cx="241402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</a:t>
            </a:r>
            <a:endParaRPr lang="en-US" sz="1080" dirty="0"/>
          </a:p>
        </p:txBody>
      </p:sp>
      <p:sp>
        <p:nvSpPr>
          <p:cNvPr id="39" name="Shape 32"/>
          <p:cNvSpPr/>
          <p:nvPr/>
        </p:nvSpPr>
        <p:spPr>
          <a:xfrm>
            <a:off x="6117336" y="6391747"/>
            <a:ext cx="2403318" cy="11367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117336" y="6391747"/>
            <a:ext cx="2403318" cy="34779"/>
          </a:xfrm>
          <a:prstGeom prst="rect">
            <a:avLst/>
          </a:prstGeom>
          <a:solidFill>
            <a:srgbClr val="F3F2EE">
              <a:alpha val="5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509060" y="6391747"/>
            <a:ext cx="11593" cy="1136782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6117336" y="6591361"/>
            <a:ext cx="996787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b="1" spc="-22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测速报告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7790597" y="6666067"/>
            <a:ext cx="602350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五图实拍</a:t>
            </a:r>
            <a:endParaRPr lang="en-US" sz="924" dirty="0"/>
          </a:p>
        </p:txBody>
      </p:sp>
      <p:sp>
        <p:nvSpPr>
          <p:cNvPr id="44" name="Text 37"/>
          <p:cNvSpPr/>
          <p:nvPr/>
        </p:nvSpPr>
        <p:spPr>
          <a:xfrm>
            <a:off x="8243042" y="6666067"/>
            <a:ext cx="184831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24" dirty="0"/>
          </a:p>
        </p:txBody>
      </p:sp>
      <p:sp>
        <p:nvSpPr>
          <p:cNvPr id="45" name="Text 38"/>
          <p:cNvSpPr/>
          <p:nvPr/>
        </p:nvSpPr>
        <p:spPr>
          <a:xfrm>
            <a:off x="6117336" y="6917527"/>
            <a:ext cx="637537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带宽体检</a:t>
            </a:r>
            <a:endParaRPr lang="en-US" sz="990" dirty="0"/>
          </a:p>
        </p:txBody>
      </p:sp>
      <p:sp>
        <p:nvSpPr>
          <p:cNvPr id="46" name="Text 39"/>
          <p:cNvSpPr/>
          <p:nvPr/>
        </p:nvSpPr>
        <p:spPr>
          <a:xfrm>
            <a:off x="6117336" y="7153717"/>
            <a:ext cx="2330348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下行 74.2 Mbps 实测,签约 500M 达</a:t>
            </a:r>
            <a:endParaRPr lang="en-US" sz="1080" dirty="0"/>
          </a:p>
        </p:txBody>
      </p:sp>
      <p:sp>
        <p:nvSpPr>
          <p:cNvPr id="47" name="Text 40"/>
          <p:cNvSpPr/>
          <p:nvPr/>
        </p:nvSpPr>
        <p:spPr>
          <a:xfrm>
            <a:off x="6117336" y="7352599"/>
            <a:ext cx="504749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标判定</a:t>
            </a:r>
            <a:endParaRPr lang="en-US" sz="1080" dirty="0"/>
          </a:p>
        </p:txBody>
      </p:sp>
      <p:sp>
        <p:nvSpPr>
          <p:cNvPr id="48" name="Shape 41"/>
          <p:cNvSpPr/>
          <p:nvPr/>
        </p:nvSpPr>
        <p:spPr>
          <a:xfrm>
            <a:off x="8718713" y="6391747"/>
            <a:ext cx="2403409" cy="11367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8718713" y="6391747"/>
            <a:ext cx="2403409" cy="34779"/>
          </a:xfrm>
          <a:prstGeom prst="rect">
            <a:avLst/>
          </a:prstGeom>
          <a:solidFill>
            <a:srgbClr val="F3F2EE">
              <a:alpha val="5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11110528" y="6391747"/>
            <a:ext cx="11593" cy="1136782"/>
          </a:xfrm>
          <a:prstGeom prst="rect">
            <a:avLst/>
          </a:prstGeom>
          <a:solidFill>
            <a:srgbClr val="F3F2EE">
              <a:alpha val="5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718713" y="6591361"/>
            <a:ext cx="996787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b="1" spc="-22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报告明细</a:t>
            </a:r>
            <a:endParaRPr lang="en-US" sz="1800" dirty="0"/>
          </a:p>
        </p:txBody>
      </p:sp>
      <p:sp>
        <p:nvSpPr>
          <p:cNvPr id="52" name="Text 45"/>
          <p:cNvSpPr/>
          <p:nvPr/>
        </p:nvSpPr>
        <p:spPr>
          <a:xfrm>
            <a:off x="10392156" y="6666067"/>
            <a:ext cx="602350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五图实拍</a:t>
            </a:r>
            <a:endParaRPr lang="en-US" sz="924" dirty="0"/>
          </a:p>
        </p:txBody>
      </p:sp>
      <p:sp>
        <p:nvSpPr>
          <p:cNvPr id="53" name="Text 46"/>
          <p:cNvSpPr/>
          <p:nvPr/>
        </p:nvSpPr>
        <p:spPr>
          <a:xfrm>
            <a:off x="10844601" y="6666067"/>
            <a:ext cx="184831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24" dirty="0"/>
          </a:p>
        </p:txBody>
      </p:sp>
      <p:sp>
        <p:nvSpPr>
          <p:cNvPr id="54" name="Text 47"/>
          <p:cNvSpPr/>
          <p:nvPr/>
        </p:nvSpPr>
        <p:spPr>
          <a:xfrm>
            <a:off x="8718713" y="6917527"/>
            <a:ext cx="908942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检测结果一览</a:t>
            </a:r>
            <a:endParaRPr lang="en-US" sz="990" dirty="0"/>
          </a:p>
        </p:txBody>
      </p:sp>
      <p:sp>
        <p:nvSpPr>
          <p:cNvPr id="55" name="Text 48"/>
          <p:cNvSpPr/>
          <p:nvPr/>
        </p:nvSpPr>
        <p:spPr>
          <a:xfrm>
            <a:off x="8718713" y="7153717"/>
            <a:ext cx="2272650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每模块结论+关键指标,技术细节可展</a:t>
            </a:r>
            <a:endParaRPr lang="en-US" sz="1080" dirty="0"/>
          </a:p>
        </p:txBody>
      </p:sp>
      <p:sp>
        <p:nvSpPr>
          <p:cNvPr id="56" name="Text 49"/>
          <p:cNvSpPr/>
          <p:nvPr/>
        </p:nvSpPr>
        <p:spPr>
          <a:xfrm>
            <a:off x="8718713" y="7352599"/>
            <a:ext cx="241402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</a:t>
            </a:r>
            <a:endParaRPr lang="en-US" sz="1080" dirty="0"/>
          </a:p>
        </p:txBody>
      </p:sp>
      <p:sp>
        <p:nvSpPr>
          <p:cNvPr id="57" name="Shape 50"/>
          <p:cNvSpPr/>
          <p:nvPr/>
        </p:nvSpPr>
        <p:spPr>
          <a:xfrm>
            <a:off x="11320181" y="6391747"/>
            <a:ext cx="2395819" cy="11367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11320181" y="6391747"/>
            <a:ext cx="2395819" cy="34779"/>
          </a:xfrm>
          <a:prstGeom prst="rect">
            <a:avLst/>
          </a:prstGeom>
          <a:solidFill>
            <a:srgbClr val="F3F2EE">
              <a:alpha val="5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9" name="Text 52"/>
          <p:cNvSpPr/>
          <p:nvPr/>
        </p:nvSpPr>
        <p:spPr>
          <a:xfrm>
            <a:off x="11320181" y="6591361"/>
            <a:ext cx="1223101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b="1" spc="-22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现场完整版</a:t>
            </a:r>
            <a:endParaRPr lang="en-US" sz="1800" dirty="0"/>
          </a:p>
        </p:txBody>
      </p:sp>
      <p:sp>
        <p:nvSpPr>
          <p:cNvPr id="60" name="Text 53"/>
          <p:cNvSpPr/>
          <p:nvPr/>
        </p:nvSpPr>
        <p:spPr>
          <a:xfrm>
            <a:off x="12993624" y="6666067"/>
            <a:ext cx="602350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五图实拍</a:t>
            </a:r>
            <a:endParaRPr lang="en-US" sz="924" dirty="0"/>
          </a:p>
        </p:txBody>
      </p:sp>
      <p:sp>
        <p:nvSpPr>
          <p:cNvPr id="61" name="Text 54"/>
          <p:cNvSpPr/>
          <p:nvPr/>
        </p:nvSpPr>
        <p:spPr>
          <a:xfrm>
            <a:off x="13446069" y="6666067"/>
            <a:ext cx="184831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24" spc="63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24" dirty="0"/>
          </a:p>
        </p:txBody>
      </p:sp>
      <p:sp>
        <p:nvSpPr>
          <p:cNvPr id="62" name="Text 55"/>
          <p:cNvSpPr/>
          <p:nvPr/>
        </p:nvSpPr>
        <p:spPr>
          <a:xfrm>
            <a:off x="11320181" y="6917527"/>
            <a:ext cx="644909" cy="1950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90" spc="6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--SITE</a:t>
            </a:r>
            <a:endParaRPr lang="en-US" sz="990" dirty="0"/>
          </a:p>
        </p:txBody>
      </p:sp>
      <p:sp>
        <p:nvSpPr>
          <p:cNvPr id="63" name="Text 56"/>
          <p:cNvSpPr/>
          <p:nvPr/>
        </p:nvSpPr>
        <p:spPr>
          <a:xfrm>
            <a:off x="11320181" y="7153717"/>
            <a:ext cx="1737360" cy="1798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66"/>
              </a:lnSpc>
              <a:buNone/>
            </a:pPr>
            <a:r>
              <a:rPr lang="en-US" sz="108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带回专家会诊的完整版报告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1001908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1002228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上手路径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1777381" y="720090"/>
            <a:ext cx="225696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三分钟从下载到出报告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411232"/>
            <a:ext cx="12893040" cy="537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018"/>
              </a:lnSpc>
              <a:buNone/>
            </a:pPr>
            <a:r>
              <a:rPr lang="en-US" sz="3720" b="1" spc="-7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</a:t>
            </a:r>
            <a:endParaRPr lang="en-US" sz="372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60450" y="975390"/>
            <a:ext cx="1417320" cy="14173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4400" y="2079894"/>
            <a:ext cx="5787420" cy="7543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2799495"/>
            <a:ext cx="5787420" cy="34779"/>
          </a:xfrm>
          <a:prstGeom prst="rect">
            <a:avLst/>
          </a:prstGeom>
          <a:solidFill>
            <a:srgbClr val="C2F53D"/>
          </a:solidFill>
          <a:ln w="12700">
            <a:solidFill>
              <a:srgbClr val="C2F53D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209465"/>
            <a:ext cx="335310" cy="335310"/>
          </a:xfrm>
          <a:prstGeom prst="rect">
            <a:avLst/>
          </a:prstGeom>
          <a:solidFill>
            <a:srgbClr val="C2F5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2548" y="2209465"/>
            <a:ext cx="250546" cy="36274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680" b="1" dirty="0">
                <a:solidFill>
                  <a:srgbClr val="1615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80" dirty="0"/>
          </a:p>
        </p:txBody>
      </p:sp>
      <p:sp>
        <p:nvSpPr>
          <p:cNvPr id="15" name="Text 12"/>
          <p:cNvSpPr/>
          <p:nvPr/>
        </p:nvSpPr>
        <p:spPr>
          <a:xfrm>
            <a:off x="1371600" y="2081814"/>
            <a:ext cx="1298539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spc="-3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371600" y="2430384"/>
            <a:ext cx="1038644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86" spc="95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按推荐顺序</a:t>
            </a:r>
            <a:endParaRPr lang="en-US" sz="1386" dirty="0"/>
          </a:p>
        </p:txBody>
      </p:sp>
      <p:sp>
        <p:nvSpPr>
          <p:cNvPr id="17" name="Shape 14"/>
          <p:cNvSpPr/>
          <p:nvPr/>
        </p:nvSpPr>
        <p:spPr>
          <a:xfrm>
            <a:off x="914400" y="2834274"/>
            <a:ext cx="5787420" cy="122374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4046423"/>
            <a:ext cx="5787420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001884"/>
            <a:ext cx="39122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C2F5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84" dirty="0"/>
          </a:p>
        </p:txBody>
      </p:sp>
      <p:sp>
        <p:nvSpPr>
          <p:cNvPr id="20" name="Text 17"/>
          <p:cNvSpPr/>
          <p:nvPr/>
        </p:nvSpPr>
        <p:spPr>
          <a:xfrm>
            <a:off x="1371600" y="3056702"/>
            <a:ext cx="94485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普通用户</a:t>
            </a:r>
            <a:endParaRPr lang="en-US" sz="1680" dirty="0"/>
          </a:p>
        </p:txBody>
      </p:sp>
      <p:sp>
        <p:nvSpPr>
          <p:cNvPr id="21" name="Text 18"/>
          <p:cNvSpPr/>
          <p:nvPr/>
        </p:nvSpPr>
        <p:spPr>
          <a:xfrm>
            <a:off x="1371600" y="3382914"/>
            <a:ext cx="4608485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NetPulse.exe → 场景菜单选现象 → 看健康分与根因</a:t>
            </a:r>
            <a:endParaRPr lang="en-US" sz="1440" dirty="0"/>
          </a:p>
        </p:txBody>
      </p:sp>
      <p:sp>
        <p:nvSpPr>
          <p:cNvPr id="22" name="Text 19"/>
          <p:cNvSpPr/>
          <p:nvPr/>
        </p:nvSpPr>
        <p:spPr>
          <a:xfrm>
            <a:off x="1371600" y="3648090"/>
            <a:ext cx="460858" cy="2255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440" dirty="0"/>
          </a:p>
        </p:txBody>
      </p:sp>
      <p:sp>
        <p:nvSpPr>
          <p:cNvPr id="23" name="Shape 20"/>
          <p:cNvSpPr/>
          <p:nvPr/>
        </p:nvSpPr>
        <p:spPr>
          <a:xfrm>
            <a:off x="914400" y="4058016"/>
            <a:ext cx="5787420" cy="122374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" y="5270164"/>
            <a:ext cx="5787420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25625"/>
            <a:ext cx="39122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C2F5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84" dirty="0"/>
          </a:p>
        </p:txBody>
      </p:sp>
      <p:sp>
        <p:nvSpPr>
          <p:cNvPr id="26" name="Text 23"/>
          <p:cNvSpPr/>
          <p:nvPr/>
        </p:nvSpPr>
        <p:spPr>
          <a:xfrm>
            <a:off x="1371600" y="4280443"/>
            <a:ext cx="115827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装维工程师</a:t>
            </a:r>
            <a:endParaRPr lang="en-US" sz="1680" dirty="0"/>
          </a:p>
        </p:txBody>
      </p:sp>
      <p:sp>
        <p:nvSpPr>
          <p:cNvPr id="27" name="Text 24"/>
          <p:cNvSpPr/>
          <p:nvPr/>
        </p:nvSpPr>
        <p:spPr>
          <a:xfrm>
            <a:off x="1371600" y="4606656"/>
            <a:ext cx="4474616" cy="225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--site 输客户名与签约带宽 → 自动出 PDF 客户报告直接</a:t>
            </a:r>
            <a:endParaRPr lang="en-US" sz="1440" dirty="0"/>
          </a:p>
        </p:txBody>
      </p:sp>
      <p:sp>
        <p:nvSpPr>
          <p:cNvPr id="28" name="Text 25"/>
          <p:cNvSpPr/>
          <p:nvPr/>
        </p:nvSpPr>
        <p:spPr>
          <a:xfrm>
            <a:off x="1371600" y="4871832"/>
            <a:ext cx="460858" cy="22558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</a:t>
            </a:r>
            <a:endParaRPr lang="en-US" sz="1440" dirty="0"/>
          </a:p>
        </p:txBody>
      </p:sp>
      <p:sp>
        <p:nvSpPr>
          <p:cNvPr id="29" name="Shape 26"/>
          <p:cNvSpPr/>
          <p:nvPr/>
        </p:nvSpPr>
        <p:spPr>
          <a:xfrm>
            <a:off x="914400" y="5281757"/>
            <a:ext cx="5787420" cy="95856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4400" y="6228730"/>
            <a:ext cx="5787420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449367"/>
            <a:ext cx="39122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C2F5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84" dirty="0"/>
          </a:p>
        </p:txBody>
      </p:sp>
      <p:sp>
        <p:nvSpPr>
          <p:cNvPr id="32" name="Text 29"/>
          <p:cNvSpPr/>
          <p:nvPr/>
        </p:nvSpPr>
        <p:spPr>
          <a:xfrm>
            <a:off x="1371600" y="5504093"/>
            <a:ext cx="94485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深度排障</a:t>
            </a:r>
            <a:endParaRPr lang="en-US" sz="1680" dirty="0"/>
          </a:p>
        </p:txBody>
      </p:sp>
      <p:sp>
        <p:nvSpPr>
          <p:cNvPr id="33" name="Text 30"/>
          <p:cNvSpPr/>
          <p:nvPr/>
        </p:nvSpPr>
        <p:spPr>
          <a:xfrm>
            <a:off x="1371600" y="5799856"/>
            <a:ext cx="43497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--monitor 1800 盯障 → 异常时段开 --capture 取证切片</a:t>
            </a:r>
            <a:endParaRPr lang="en-US" sz="1440" dirty="0"/>
          </a:p>
        </p:txBody>
      </p:sp>
      <p:sp>
        <p:nvSpPr>
          <p:cNvPr id="34" name="Shape 31"/>
          <p:cNvSpPr/>
          <p:nvPr/>
        </p:nvSpPr>
        <p:spPr>
          <a:xfrm>
            <a:off x="7311360" y="2079894"/>
            <a:ext cx="7590" cy="4909139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928580" y="2079894"/>
            <a:ext cx="5787420" cy="7543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28580" y="2799495"/>
            <a:ext cx="5787420" cy="34779"/>
          </a:xfrm>
          <a:prstGeom prst="rect">
            <a:avLst/>
          </a:prstGeom>
          <a:solidFill>
            <a:srgbClr val="6E85FF"/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928580" y="2209465"/>
            <a:ext cx="335310" cy="335310"/>
          </a:xfrm>
          <a:prstGeom prst="rect">
            <a:avLst/>
          </a:prstGeom>
          <a:solidFill>
            <a:srgbClr val="6E8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062631" y="2209465"/>
            <a:ext cx="227076" cy="36274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80" dirty="0"/>
          </a:p>
        </p:txBody>
      </p:sp>
      <p:sp>
        <p:nvSpPr>
          <p:cNvPr id="39" name="Text 36"/>
          <p:cNvSpPr/>
          <p:nvPr/>
        </p:nvSpPr>
        <p:spPr>
          <a:xfrm>
            <a:off x="8385780" y="2081814"/>
            <a:ext cx="1298539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spc="-30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避坑指南</a:t>
            </a:r>
            <a:endParaRPr lang="en-US" sz="2400" dirty="0"/>
          </a:p>
        </p:txBody>
      </p:sp>
      <p:sp>
        <p:nvSpPr>
          <p:cNvPr id="40" name="Text 37"/>
          <p:cNvSpPr/>
          <p:nvPr/>
        </p:nvSpPr>
        <p:spPr>
          <a:xfrm>
            <a:off x="8385780" y="2430384"/>
            <a:ext cx="848660" cy="271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86" spc="95" kern="0" dirty="0">
                <a:solidFill>
                  <a:srgbClr val="8482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三条红线</a:t>
            </a:r>
            <a:endParaRPr lang="en-US" sz="1386" dirty="0"/>
          </a:p>
        </p:txBody>
      </p:sp>
      <p:sp>
        <p:nvSpPr>
          <p:cNvPr id="41" name="Shape 38"/>
          <p:cNvSpPr/>
          <p:nvPr/>
        </p:nvSpPr>
        <p:spPr>
          <a:xfrm>
            <a:off x="7928580" y="2834274"/>
            <a:ext cx="5787420" cy="95856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28580" y="3781247"/>
            <a:ext cx="5787420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928580" y="3001884"/>
            <a:ext cx="39122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84" dirty="0"/>
          </a:p>
        </p:txBody>
      </p:sp>
      <p:sp>
        <p:nvSpPr>
          <p:cNvPr id="44" name="Text 41"/>
          <p:cNvSpPr/>
          <p:nvPr/>
        </p:nvSpPr>
        <p:spPr>
          <a:xfrm>
            <a:off x="8385780" y="3056702"/>
            <a:ext cx="115827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压测勿滥用</a:t>
            </a:r>
            <a:endParaRPr lang="en-US" sz="1680" dirty="0"/>
          </a:p>
        </p:txBody>
      </p:sp>
      <p:sp>
        <p:nvSpPr>
          <p:cNvPr id="45" name="Text 42"/>
          <p:cNvSpPr/>
          <p:nvPr/>
        </p:nvSpPr>
        <p:spPr>
          <a:xfrm>
            <a:off x="8385780" y="3352465"/>
            <a:ext cx="3315614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tcpcc 高并发勿在客户网络短时间重复跑</a:t>
            </a:r>
            <a:endParaRPr lang="en-US" sz="1440" dirty="0"/>
          </a:p>
        </p:txBody>
      </p:sp>
      <p:sp>
        <p:nvSpPr>
          <p:cNvPr id="46" name="Shape 43"/>
          <p:cNvSpPr/>
          <p:nvPr/>
        </p:nvSpPr>
        <p:spPr>
          <a:xfrm>
            <a:off x="7928580" y="3792840"/>
            <a:ext cx="5787420" cy="95856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28580" y="4739812"/>
            <a:ext cx="5787420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928580" y="3960449"/>
            <a:ext cx="39122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84" dirty="0"/>
          </a:p>
        </p:txBody>
      </p:sp>
      <p:sp>
        <p:nvSpPr>
          <p:cNvPr id="49" name="Text 46"/>
          <p:cNvSpPr/>
          <p:nvPr/>
        </p:nvSpPr>
        <p:spPr>
          <a:xfrm>
            <a:off x="8385780" y="4015267"/>
            <a:ext cx="94485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杀软加白</a:t>
            </a:r>
            <a:endParaRPr lang="en-US" sz="1680" dirty="0"/>
          </a:p>
        </p:txBody>
      </p:sp>
      <p:sp>
        <p:nvSpPr>
          <p:cNvPr id="50" name="Text 47"/>
          <p:cNvSpPr/>
          <p:nvPr/>
        </p:nvSpPr>
        <p:spPr>
          <a:xfrm>
            <a:off x="8385780" y="4311030"/>
            <a:ext cx="37238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盯障常驻 ping 进程可能被 EDR 告警,建议加白</a:t>
            </a:r>
            <a:endParaRPr lang="en-US" sz="1440" dirty="0"/>
          </a:p>
        </p:txBody>
      </p:sp>
      <p:sp>
        <p:nvSpPr>
          <p:cNvPr id="51" name="Shape 48"/>
          <p:cNvSpPr/>
          <p:nvPr/>
        </p:nvSpPr>
        <p:spPr>
          <a:xfrm>
            <a:off x="7928580" y="4751405"/>
            <a:ext cx="5787420" cy="95856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928580" y="5698378"/>
            <a:ext cx="5787420" cy="11593"/>
          </a:xfrm>
          <a:prstGeom prst="rect">
            <a:avLst/>
          </a:prstGeom>
          <a:solidFill>
            <a:srgbClr val="F3F2EE">
              <a:alpha val="10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928580" y="4919106"/>
            <a:ext cx="39122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6E8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84" dirty="0"/>
          </a:p>
        </p:txBody>
      </p:sp>
      <p:sp>
        <p:nvSpPr>
          <p:cNvPr id="54" name="Text 51"/>
          <p:cNvSpPr/>
          <p:nvPr/>
        </p:nvSpPr>
        <p:spPr>
          <a:xfrm>
            <a:off x="8385780" y="4973833"/>
            <a:ext cx="1158270" cy="2636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抓包需权限</a:t>
            </a:r>
            <a:endParaRPr lang="en-US" sz="1680" dirty="0"/>
          </a:p>
        </p:txBody>
      </p:sp>
      <p:sp>
        <p:nvSpPr>
          <p:cNvPr id="55" name="Text 52"/>
          <p:cNvSpPr/>
          <p:nvPr/>
        </p:nvSpPr>
        <p:spPr>
          <a:xfrm>
            <a:off x="8385780" y="5269596"/>
            <a:ext cx="3639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--capture 需 Npcap + 管理员,首次有隐私确认</a:t>
            </a:r>
            <a:endParaRPr lang="en-US" sz="1440" dirty="0"/>
          </a:p>
        </p:txBody>
      </p:sp>
      <p:sp>
        <p:nvSpPr>
          <p:cNvPr id="56" name="Shape 53"/>
          <p:cNvSpPr/>
          <p:nvPr/>
        </p:nvSpPr>
        <p:spPr>
          <a:xfrm>
            <a:off x="914400" y="7095744"/>
            <a:ext cx="12801600" cy="43278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14400" y="7095744"/>
            <a:ext cx="12801600" cy="23186"/>
          </a:xfrm>
          <a:prstGeom prst="rect">
            <a:avLst/>
          </a:prstGeom>
          <a:solidFill>
            <a:srgbClr val="6E85FF"/>
          </a:solidFill>
          <a:ln w="12700">
            <a:solidFill>
              <a:srgbClr val="6E85FF">
                <a:alpha val="0"/>
              </a:srgbClr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14400" y="7248174"/>
            <a:ext cx="519974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274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注意</a:t>
            </a:r>
            <a:endParaRPr lang="en-US" sz="1584" dirty="0"/>
          </a:p>
        </p:txBody>
      </p:sp>
      <p:sp>
        <p:nvSpPr>
          <p:cNvPr id="59" name="Text 56"/>
          <p:cNvSpPr/>
          <p:nvPr/>
        </p:nvSpPr>
        <p:spPr>
          <a:xfrm>
            <a:off x="1439357" y="7263445"/>
            <a:ext cx="44685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B8B6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核心功能零依赖;可选增强(抓包/Npcap)首次使用有引导</a:t>
            </a:r>
            <a:endParaRPr lang="en-US" sz="14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2040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6151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01070"/>
            <a:ext cx="12801600" cy="487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177127"/>
            <a:ext cx="12801600" cy="11593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3F2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701070"/>
            <a:ext cx="1224656" cy="31245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701070"/>
            <a:ext cx="1419743" cy="33988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584" b="1" spc="180" kern="0" dirty="0">
                <a:solidFill>
                  <a:srgbClr val="F3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NETPULSE</a:t>
            </a:r>
            <a:endParaRPr lang="en-US" sz="1584" dirty="0"/>
          </a:p>
        </p:txBody>
      </p:sp>
      <p:sp>
        <p:nvSpPr>
          <p:cNvPr id="8" name="Text 6"/>
          <p:cNvSpPr/>
          <p:nvPr/>
        </p:nvSpPr>
        <p:spPr>
          <a:xfrm>
            <a:off x="13328203" y="720090"/>
            <a:ext cx="519974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结语</a:t>
            </a:r>
            <a:endParaRPr lang="en-US" sz="1584" dirty="0"/>
          </a:p>
        </p:txBody>
      </p:sp>
      <p:sp>
        <p:nvSpPr>
          <p:cNvPr id="9" name="Text 7"/>
          <p:cNvSpPr/>
          <p:nvPr/>
        </p:nvSpPr>
        <p:spPr>
          <a:xfrm>
            <a:off x="914400" y="1599493"/>
            <a:ext cx="1031748" cy="18486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13200" b="1" dirty="0">
                <a:solidFill>
                  <a:srgbClr val="274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200" dirty="0"/>
          </a:p>
        </p:txBody>
      </p:sp>
      <p:sp>
        <p:nvSpPr>
          <p:cNvPr id="10" name="Text 8"/>
          <p:cNvSpPr/>
          <p:nvPr/>
        </p:nvSpPr>
        <p:spPr>
          <a:xfrm>
            <a:off x="914400" y="3045047"/>
            <a:ext cx="11314146" cy="2760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81"/>
              </a:lnSpc>
              <a:buNone/>
            </a:pPr>
            <a:r>
              <a:rPr lang="en-US" sz="4560" b="1" spc="-85" kern="0" dirty="0">
                <a:solidFill>
                  <a:srgbClr val="F3F2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把复杂诊断交给工具 23 项诊断,8 条根因规则,单文件、零依赖、免安装, 双击即用,盯障取证,现场交付,一气呵成」。</a:t>
            </a:r>
            <a:endParaRPr lang="en-US" sz="4560" dirty="0"/>
          </a:p>
        </p:txBody>
      </p:sp>
      <p:sp>
        <p:nvSpPr>
          <p:cNvPr id="11" name="Shape 9"/>
          <p:cNvSpPr/>
          <p:nvPr/>
        </p:nvSpPr>
        <p:spPr>
          <a:xfrm>
            <a:off x="914400" y="6281471"/>
            <a:ext cx="426750" cy="22860"/>
          </a:xfrm>
          <a:prstGeom prst="rect">
            <a:avLst/>
          </a:prstGeom>
          <a:solidFill>
            <a:srgbClr val="2742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78310" y="6155741"/>
            <a:ext cx="9325188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RELEASES 搜索 SILENTCROW09/NETPULSE,下载 NETPULSE.EXE 即用。</a:t>
            </a:r>
            <a:endParaRPr lang="en-US" sz="1584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600000">
            <a:off x="10896630" y="1112550"/>
            <a:ext cx="1904970" cy="190497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7109460"/>
            <a:ext cx="12801600" cy="7590"/>
          </a:xfrm>
          <a:prstGeom prst="rect">
            <a:avLst/>
          </a:prstGeom>
          <a:solidFill>
            <a:srgbClr val="F3F2EE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7254210"/>
            <a:ext cx="3227375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下载最新版 · 查看 RELEASES</a:t>
            </a:r>
            <a:endParaRPr lang="en-US" sz="1584" dirty="0"/>
          </a:p>
        </p:txBody>
      </p:sp>
      <p:sp>
        <p:nvSpPr>
          <p:cNvPr id="16" name="Text 13"/>
          <p:cNvSpPr/>
          <p:nvPr/>
        </p:nvSpPr>
        <p:spPr>
          <a:xfrm>
            <a:off x="11078047" y="7254210"/>
            <a:ext cx="2881503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84" spc="108" kern="0" dirty="0">
                <a:solidFill>
                  <a:srgbClr val="B8B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感谢阅读 · 2026 年 10 月</a:t>
            </a:r>
            <a:endParaRPr lang="en-US" sz="15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Deck Export</dc:title>
  <dc:subject>Editable PPTX export</dc:subject>
  <dc:creator>Dashi PPT</dc:creator>
  <cp:lastModifiedBy>Dashi PPT</cp:lastModifiedBy>
  <cp:revision>1</cp:revision>
  <dcterms:created xsi:type="dcterms:W3CDTF">2026-10-12T08:33:34Z</dcterms:created>
  <dcterms:modified xsi:type="dcterms:W3CDTF">2026-10-12T08:33:34Z</dcterms:modified>
</cp:coreProperties>
</file>