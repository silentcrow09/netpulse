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Microsoft YaHei" panose="020B0503020204020204" pitchFamily="34" charset="-122"/>
      <p:regular r:id="rId16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Inter" panose="02000503000000020004" pitchFamily="2" charset="0"/>
      <p:regular r:id="rId22"/>
      <p:bold r:id="rId23"/>
    </p:embeddedFont>
    <p:embeddedFont>
      <p:font typeface="Space Mono" panose="02010509030202000204" pitchFamily="49" charset="0"/>
      <p:regular r:id="rId24"/>
      <p:bold r:id="rId25"/>
    </p:embeddedFont>
    <p:embeddedFont>
      <p:font typeface="等线" panose="02010600030101010101" pitchFamily="2" charset="-122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710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27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453061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754127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WINDOWS 网络诊断工具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477470" y="720090"/>
            <a:ext cx="34907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单文件 · 零依赖 · 23 项诊断模块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2984345"/>
            <a:ext cx="6386170" cy="88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677"/>
              </a:lnSpc>
              <a:buNone/>
            </a:pPr>
            <a:r>
              <a:rPr lang="en-US" sz="6240" b="1" kern="0" spc="-156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NetPulse v1.14</a:t>
            </a:r>
            <a:endParaRPr lang="en-US" sz="6240" dirty="0"/>
          </a:p>
        </p:txBody>
      </p:sp>
      <p:sp>
        <p:nvSpPr>
          <p:cNvPr id="10" name="Text 8"/>
          <p:cNvSpPr/>
          <p:nvPr/>
        </p:nvSpPr>
        <p:spPr>
          <a:xfrm>
            <a:off x="914400" y="3797733"/>
            <a:ext cx="5527914" cy="88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677"/>
              </a:lnSpc>
              <a:buNone/>
            </a:pPr>
            <a:r>
              <a:rPr lang="en-US" sz="6240" b="1" kern="0" spc="-156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更新与功能全景</a:t>
            </a:r>
            <a:endParaRPr lang="en-US" sz="6240" dirty="0"/>
          </a:p>
        </p:txBody>
      </p:sp>
      <p:sp>
        <p:nvSpPr>
          <p:cNvPr id="11" name="Text 9"/>
          <p:cNvSpPr/>
          <p:nvPr/>
        </p:nvSpPr>
        <p:spPr>
          <a:xfrm>
            <a:off x="914400" y="4970221"/>
            <a:ext cx="5781111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v1.2 到 v1.14.13 一个多月迭代 40+ 个版本:根因分析、盯障取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14400" y="5278831"/>
            <a:ext cx="2971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证、现场检测与完整使用指南。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8542050" y="3302996"/>
            <a:ext cx="5173950" cy="187497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2050" y="3302996"/>
            <a:ext cx="11593" cy="1874977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31095" y="3290103"/>
            <a:ext cx="2452421" cy="1421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669"/>
              </a:lnSpc>
              <a:buNone/>
            </a:pPr>
            <a:r>
              <a:rPr lang="en-US" sz="10080" b="1" kern="0" spc="-200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40+</a:t>
            </a:r>
            <a:endParaRPr lang="en-US" sz="10080" dirty="0"/>
          </a:p>
        </p:txBody>
      </p:sp>
      <p:sp>
        <p:nvSpPr>
          <p:cNvPr id="16" name="Text 14"/>
          <p:cNvSpPr/>
          <p:nvPr/>
        </p:nvSpPr>
        <p:spPr>
          <a:xfrm>
            <a:off x="12583516" y="3404403"/>
            <a:ext cx="1132484" cy="408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898"/>
              </a:lnSpc>
              <a:buNone/>
            </a:pPr>
            <a:r>
              <a:rPr lang="en-US" sz="2760" b="1" kern="0" spc="-34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个版本</a:t>
            </a:r>
            <a:endParaRPr lang="en-US" sz="2760" dirty="0"/>
          </a:p>
        </p:txBody>
      </p:sp>
      <p:sp>
        <p:nvSpPr>
          <p:cNvPr id="17" name="Text 15"/>
          <p:cNvSpPr/>
          <p:nvPr/>
        </p:nvSpPr>
        <p:spPr>
          <a:xfrm>
            <a:off x="8945850" y="4541002"/>
            <a:ext cx="477015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448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v1.2.0 → v1.14.13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8945850" y="4912888"/>
            <a:ext cx="477015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2026-08-31 → 2026-09-30 持续迭代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914400" y="710946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7254210"/>
            <a:ext cx="248762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单文件 NETPULSE.PY</a:t>
            </a:r>
            <a:endParaRPr lang="en-US" sz="1584" dirty="0"/>
          </a:p>
        </p:txBody>
      </p:sp>
      <p:sp>
        <p:nvSpPr>
          <p:cNvPr id="21" name="Text 19"/>
          <p:cNvSpPr/>
          <p:nvPr/>
        </p:nvSpPr>
        <p:spPr>
          <a:xfrm>
            <a:off x="3336463" y="7254210"/>
            <a:ext cx="18227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核心零第三方依赖</a:t>
            </a:r>
            <a:endParaRPr lang="en-US" sz="1584" dirty="0"/>
          </a:p>
        </p:txBody>
      </p:sp>
      <p:sp>
        <p:nvSpPr>
          <p:cNvPr id="22" name="Text 20"/>
          <p:cNvSpPr/>
          <p:nvPr/>
        </p:nvSpPr>
        <p:spPr>
          <a:xfrm>
            <a:off x="5253137" y="7254210"/>
            <a:ext cx="216575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WINDOWS 10 / 11</a:t>
            </a:r>
            <a:endParaRPr lang="en-US" sz="1584" dirty="0"/>
          </a:p>
        </p:txBody>
      </p:sp>
      <p:sp>
        <p:nvSpPr>
          <p:cNvPr id="23" name="Text 21"/>
          <p:cNvSpPr/>
          <p:nvPr/>
        </p:nvSpPr>
        <p:spPr>
          <a:xfrm>
            <a:off x="12222145" y="7254210"/>
            <a:ext cx="17016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 年 10 月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11376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项目体量一览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865175" y="720090"/>
            <a:ext cx="32858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单文件 WINDOWS 网络诊断工具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2207362"/>
            <a:ext cx="3816096" cy="3182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784"/>
              </a:lnSpc>
              <a:buNone/>
            </a:pPr>
            <a:r>
              <a:rPr lang="en-US" sz="22800" b="1" kern="0" spc="-200" dirty="0">
                <a:solidFill>
                  <a:srgbClr val="274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22800" dirty="0"/>
          </a:p>
        </p:txBody>
      </p:sp>
      <p:sp>
        <p:nvSpPr>
          <p:cNvPr id="10" name="Text 8"/>
          <p:cNvSpPr/>
          <p:nvPr/>
        </p:nvSpPr>
        <p:spPr>
          <a:xfrm>
            <a:off x="914400" y="4754633"/>
            <a:ext cx="6787741" cy="76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760" b="1" kern="0" spc="-34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零依赖即可运行, 报告开箱即用,覆盖端到端排障链路。</a:t>
            </a:r>
            <a:endParaRPr lang="en-US" sz="2760" dirty="0"/>
          </a:p>
        </p:txBody>
      </p:sp>
      <p:sp>
        <p:nvSpPr>
          <p:cNvPr id="11" name="Shape 9"/>
          <p:cNvSpPr/>
          <p:nvPr/>
        </p:nvSpPr>
        <p:spPr>
          <a:xfrm>
            <a:off x="8226491" y="3375690"/>
            <a:ext cx="5489509" cy="10134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6491" y="3375690"/>
            <a:ext cx="11593" cy="10134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0831" y="3375690"/>
            <a:ext cx="13884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274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全量回归保护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8660831" y="3810030"/>
            <a:ext cx="50624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个模块覆盖局域网到外网全链路;8 条规则跨模块定位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8660831" y="4118640"/>
            <a:ext cx="3053867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根因;497 个用例守护每次发版。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914400" y="651510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714051"/>
            <a:ext cx="733958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840" b="1" kern="0" spc="-96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3840" dirty="0"/>
          </a:p>
        </p:txBody>
      </p:sp>
      <p:sp>
        <p:nvSpPr>
          <p:cNvPr id="18" name="Text 16"/>
          <p:cNvSpPr/>
          <p:nvPr/>
        </p:nvSpPr>
        <p:spPr>
          <a:xfrm>
            <a:off x="1567464" y="6890141"/>
            <a:ext cx="35844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2040" dirty="0"/>
          </a:p>
        </p:txBody>
      </p:sp>
      <p:sp>
        <p:nvSpPr>
          <p:cNvPr id="19" name="Text 17"/>
          <p:cNvSpPr/>
          <p:nvPr/>
        </p:nvSpPr>
        <p:spPr>
          <a:xfrm>
            <a:off x="914400" y="7277070"/>
            <a:ext cx="390640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诊断模块</a:t>
            </a:r>
            <a:endParaRPr lang="en-US" sz="1452" dirty="0"/>
          </a:p>
        </p:txBody>
      </p:sp>
      <p:sp>
        <p:nvSpPr>
          <p:cNvPr id="20" name="Shape 18"/>
          <p:cNvSpPr/>
          <p:nvPr/>
        </p:nvSpPr>
        <p:spPr>
          <a:xfrm>
            <a:off x="5064679" y="6690390"/>
            <a:ext cx="4158051" cy="8382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4679" y="6690390"/>
            <a:ext cx="11593" cy="8382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7579" y="6714051"/>
            <a:ext cx="421843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840" b="1" kern="0" spc="-96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3840" dirty="0"/>
          </a:p>
        </p:txBody>
      </p:sp>
      <p:sp>
        <p:nvSpPr>
          <p:cNvPr id="23" name="Text 21"/>
          <p:cNvSpPr/>
          <p:nvPr/>
        </p:nvSpPr>
        <p:spPr>
          <a:xfrm>
            <a:off x="5764652" y="6890141"/>
            <a:ext cx="35844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2040" dirty="0"/>
          </a:p>
        </p:txBody>
      </p:sp>
      <p:sp>
        <p:nvSpPr>
          <p:cNvPr id="24" name="Text 22"/>
          <p:cNvSpPr/>
          <p:nvPr/>
        </p:nvSpPr>
        <p:spPr>
          <a:xfrm>
            <a:off x="5407579" y="7277070"/>
            <a:ext cx="390659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根因规则</a:t>
            </a:r>
            <a:endParaRPr lang="en-US" sz="1452" dirty="0"/>
          </a:p>
        </p:txBody>
      </p:sp>
      <p:sp>
        <p:nvSpPr>
          <p:cNvPr id="25" name="Shape 23"/>
          <p:cNvSpPr/>
          <p:nvPr/>
        </p:nvSpPr>
        <p:spPr>
          <a:xfrm>
            <a:off x="9557949" y="6690390"/>
            <a:ext cx="4158051" cy="8382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57949" y="6690390"/>
            <a:ext cx="11593" cy="8382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00849" y="6714051"/>
            <a:ext cx="1046074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840" b="1" kern="0" spc="-96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497</a:t>
            </a:r>
            <a:endParaRPr lang="en-US" sz="3840" dirty="0"/>
          </a:p>
        </p:txBody>
      </p:sp>
      <p:sp>
        <p:nvSpPr>
          <p:cNvPr id="28" name="Text 26"/>
          <p:cNvSpPr/>
          <p:nvPr/>
        </p:nvSpPr>
        <p:spPr>
          <a:xfrm>
            <a:off x="10849905" y="6890141"/>
            <a:ext cx="35844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2040" dirty="0"/>
          </a:p>
        </p:txBody>
      </p:sp>
      <p:sp>
        <p:nvSpPr>
          <p:cNvPr id="29" name="Text 27"/>
          <p:cNvSpPr/>
          <p:nvPr/>
        </p:nvSpPr>
        <p:spPr>
          <a:xfrm>
            <a:off x="9900849" y="7277070"/>
            <a:ext cx="390659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回归用例</a:t>
            </a:r>
            <a:endParaRPr lang="en-US" sz="14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019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版本演进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078047" y="720090"/>
            <a:ext cx="290966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V1.2 → V1.14 六波大更新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95089"/>
            <a:ext cx="195288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三条主线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775844" y="1495089"/>
            <a:ext cx="28835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从检测到定位</a:t>
            </a:r>
            <a:endParaRPr lang="en-US" sz="3720" dirty="0"/>
          </a:p>
        </p:txBody>
      </p:sp>
      <p:sp>
        <p:nvSpPr>
          <p:cNvPr id="11" name="Shape 9"/>
          <p:cNvSpPr/>
          <p:nvPr/>
        </p:nvSpPr>
        <p:spPr>
          <a:xfrm>
            <a:off x="3047878" y="3096250"/>
            <a:ext cx="8534278" cy="1527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820" y="3046689"/>
            <a:ext cx="114300" cy="11430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161513">
                <a:alpha val="7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58050" y="3046689"/>
            <a:ext cx="114300" cy="11430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161513">
                <a:alpha val="7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525280" y="3046689"/>
            <a:ext cx="114300" cy="11430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161513">
                <a:alpha val="7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19170" y="3431469"/>
            <a:ext cx="73709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会诊断</a:t>
            </a:r>
            <a:endParaRPr lang="en-US" sz="1584" dirty="0"/>
          </a:p>
        </p:txBody>
      </p:sp>
      <p:sp>
        <p:nvSpPr>
          <p:cNvPr id="16" name="Text 14"/>
          <p:cNvSpPr/>
          <p:nvPr/>
        </p:nvSpPr>
        <p:spPr>
          <a:xfrm>
            <a:off x="1219170" y="3812271"/>
            <a:ext cx="2830068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90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v1.3 → v1.6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219170" y="4446681"/>
            <a:ext cx="206069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根因引擎+场景化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219170" y="4892954"/>
            <a:ext cx="360529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条根因规则跨模块聚合证据;场景菜单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1219170" y="5201564"/>
            <a:ext cx="3609365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双击即用,网络慢/断网/网页打不开一键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1219170" y="5510174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出结论。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1219170" y="6043635"/>
            <a:ext cx="60990" cy="6099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8740" y="5948355"/>
            <a:ext cx="145474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2026.08.31</a:t>
            </a:r>
            <a:endParaRPr lang="en-US" sz="1452" dirty="0"/>
          </a:p>
        </p:txBody>
      </p:sp>
      <p:sp>
        <p:nvSpPr>
          <p:cNvPr id="23" name="Shape 21"/>
          <p:cNvSpPr/>
          <p:nvPr/>
        </p:nvSpPr>
        <p:spPr>
          <a:xfrm>
            <a:off x="5176510" y="3431469"/>
            <a:ext cx="4269791" cy="276834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6510" y="3431469"/>
            <a:ext cx="11593" cy="2768346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8869" y="3431469"/>
            <a:ext cx="73709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能取证</a:t>
            </a:r>
            <a:endParaRPr lang="en-US" sz="1584" dirty="0"/>
          </a:p>
        </p:txBody>
      </p:sp>
      <p:sp>
        <p:nvSpPr>
          <p:cNvPr id="26" name="Text 24"/>
          <p:cNvSpPr/>
          <p:nvPr/>
        </p:nvSpPr>
        <p:spPr>
          <a:xfrm>
            <a:off x="5488869" y="3812271"/>
            <a:ext cx="2830068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90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v1.7 → v1.9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488869" y="4446681"/>
            <a:ext cx="206069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盯障统计层+抓包</a:t>
            </a:r>
            <a:endParaRPr lang="en-US" sz="2040" dirty="0"/>
          </a:p>
        </p:txBody>
      </p:sp>
      <p:sp>
        <p:nvSpPr>
          <p:cNvPr id="28" name="Text 26"/>
          <p:cNvSpPr/>
          <p:nvPr/>
        </p:nvSpPr>
        <p:spPr>
          <a:xfrm>
            <a:off x="5488869" y="4892954"/>
            <a:ext cx="374163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MTU 探测、TCP 重传差分、事件触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5488869" y="5201564"/>
            <a:ext cx="363816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 pcap 切片三信号判定 PMTU 黑洞;启</a:t>
            </a:r>
            <a:endParaRPr lang="en-US" sz="1620" dirty="0"/>
          </a:p>
        </p:txBody>
      </p:sp>
      <p:sp>
        <p:nvSpPr>
          <p:cNvPr id="30" name="Text 28"/>
          <p:cNvSpPr/>
          <p:nvPr/>
        </p:nvSpPr>
        <p:spPr>
          <a:xfrm>
            <a:off x="5488869" y="5510174"/>
            <a:ext cx="155813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动提速至 3 秒。</a:t>
            </a:r>
            <a:endParaRPr lang="en-US" sz="1620" dirty="0"/>
          </a:p>
        </p:txBody>
      </p:sp>
      <p:sp>
        <p:nvSpPr>
          <p:cNvPr id="31" name="Shape 29"/>
          <p:cNvSpPr/>
          <p:nvPr/>
        </p:nvSpPr>
        <p:spPr>
          <a:xfrm>
            <a:off x="5488869" y="6043635"/>
            <a:ext cx="60990" cy="6099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8439" y="5948355"/>
            <a:ext cx="145474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2026.09.01</a:t>
            </a:r>
            <a:endParaRPr lang="en-US" sz="1452" dirty="0"/>
          </a:p>
        </p:txBody>
      </p:sp>
      <p:sp>
        <p:nvSpPr>
          <p:cNvPr id="33" name="Shape 31"/>
          <p:cNvSpPr/>
          <p:nvPr/>
        </p:nvSpPr>
        <p:spPr>
          <a:xfrm>
            <a:off x="9446301" y="3431469"/>
            <a:ext cx="4269699" cy="276834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46301" y="3431469"/>
            <a:ext cx="11593" cy="2768346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8751" y="3431469"/>
            <a:ext cx="73709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可交付</a:t>
            </a:r>
            <a:endParaRPr lang="en-US" sz="1584" dirty="0"/>
          </a:p>
        </p:txBody>
      </p:sp>
      <p:sp>
        <p:nvSpPr>
          <p:cNvPr id="36" name="Text 34"/>
          <p:cNvSpPr/>
          <p:nvPr/>
        </p:nvSpPr>
        <p:spPr>
          <a:xfrm>
            <a:off x="9758751" y="3812271"/>
            <a:ext cx="3415284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90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v1.10 → v1.14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758751" y="4446681"/>
            <a:ext cx="2318461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压测增强+现场模式</a:t>
            </a:r>
            <a:endParaRPr lang="en-US" sz="2040" dirty="0"/>
          </a:p>
        </p:txBody>
      </p:sp>
      <p:sp>
        <p:nvSpPr>
          <p:cNvPr id="38" name="Text 36"/>
          <p:cNvSpPr/>
          <p:nvPr/>
        </p:nvSpPr>
        <p:spPr>
          <a:xfrm>
            <a:off x="9758751" y="4892954"/>
            <a:ext cx="377807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并发 4000 阶梯多目标轮转;NIC 错</a:t>
            </a:r>
            <a:endParaRPr lang="en-US" sz="1620" dirty="0"/>
          </a:p>
        </p:txBody>
      </p:sp>
      <p:sp>
        <p:nvSpPr>
          <p:cNvPr id="39" name="Text 37"/>
          <p:cNvSpPr/>
          <p:nvPr/>
        </p:nvSpPr>
        <p:spPr>
          <a:xfrm>
            <a:off x="9758751" y="5201564"/>
            <a:ext cx="375955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帧检测;现场模式一键出客户报告 PDF,装</a:t>
            </a:r>
            <a:endParaRPr lang="en-US" sz="1620" dirty="0"/>
          </a:p>
        </p:txBody>
      </p:sp>
      <p:sp>
        <p:nvSpPr>
          <p:cNvPr id="40" name="Text 38"/>
          <p:cNvSpPr/>
          <p:nvPr/>
        </p:nvSpPr>
        <p:spPr>
          <a:xfrm>
            <a:off x="9758751" y="5510174"/>
            <a:ext cx="13258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维直接可用。</a:t>
            </a:r>
            <a:endParaRPr lang="en-US" sz="1620" dirty="0"/>
          </a:p>
        </p:txBody>
      </p:sp>
      <p:sp>
        <p:nvSpPr>
          <p:cNvPr id="41" name="Shape 39"/>
          <p:cNvSpPr/>
          <p:nvPr/>
        </p:nvSpPr>
        <p:spPr>
          <a:xfrm>
            <a:off x="9758751" y="6043635"/>
            <a:ext cx="60990" cy="6099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88230" y="5948355"/>
            <a:ext cx="145474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2026.09.07</a:t>
            </a:r>
            <a:endParaRPr lang="en-US" sz="1452" dirty="0"/>
          </a:p>
        </p:txBody>
      </p:sp>
      <p:sp>
        <p:nvSpPr>
          <p:cNvPr id="43" name="Shape 41"/>
          <p:cNvSpPr/>
          <p:nvPr/>
        </p:nvSpPr>
        <p:spPr>
          <a:xfrm>
            <a:off x="914400" y="7109460"/>
            <a:ext cx="12801600" cy="4190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710946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7254210"/>
            <a:ext cx="74376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每一次迭代都来自真实排障现场反馈:先能诊断,再能定位,最后能交付客户。</a:t>
            </a:r>
            <a:endParaRPr lang="en-US" sz="1584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770" y="1143000"/>
            <a:ext cx="1295430" cy="1295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620945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76039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更新重点 · 根因分析引擎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9030523" y="720090"/>
            <a:ext cx="526223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不是罗列 23 项结果,而是跨模块聚合证据直接给结论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150848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 条内置规则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58483"/>
            <a:ext cx="4583735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/ WAN / WiFi /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5220047" y="1924597"/>
            <a:ext cx="148754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网关丢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914400" y="2454843"/>
            <a:ext cx="2443582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 / NAT /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3357982" y="2461748"/>
            <a:ext cx="248610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MTU / TCP</a:t>
            </a:r>
            <a:endParaRPr lang="en-US" sz="3720" dirty="0"/>
          </a:p>
        </p:txBody>
      </p:sp>
      <p:sp>
        <p:nvSpPr>
          <p:cNvPr id="14" name="Text 12"/>
          <p:cNvSpPr/>
          <p:nvPr/>
        </p:nvSpPr>
        <p:spPr>
          <a:xfrm>
            <a:off x="914400" y="3115909"/>
            <a:ext cx="5657118" cy="336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每条根因带「为什么这样判断 / 已基本排除」证据链与置信度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914400" y="3620933"/>
            <a:ext cx="3521172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86"/>
              </a:lnSpc>
              <a:buNone/>
            </a:pPr>
            <a:r>
              <a:rPr lang="en-US" sz="6960" b="1" kern="0" spc="-20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场景诊断</a:t>
            </a:r>
            <a:endParaRPr lang="en-US" sz="6960" dirty="0"/>
          </a:p>
        </p:txBody>
      </p:sp>
      <p:sp>
        <p:nvSpPr>
          <p:cNvPr id="16" name="Text 14"/>
          <p:cNvSpPr/>
          <p:nvPr/>
        </p:nvSpPr>
        <p:spPr>
          <a:xfrm>
            <a:off x="4435572" y="4178899"/>
            <a:ext cx="156895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 个 PROFILE</a:t>
            </a:r>
            <a:endParaRPr lang="en-US" sz="1452" dirty="0"/>
          </a:p>
        </p:txBody>
      </p:sp>
      <p:sp>
        <p:nvSpPr>
          <p:cNvPr id="17" name="Text 15"/>
          <p:cNvSpPr/>
          <p:nvPr/>
        </p:nvSpPr>
        <p:spPr>
          <a:xfrm>
            <a:off x="4435572" y="4453219"/>
            <a:ext cx="105156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五场景一键诊断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4400" y="4873020"/>
            <a:ext cx="716250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3970" y="4873020"/>
            <a:ext cx="54864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22090" y="4873020"/>
            <a:ext cx="716250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1660" y="4873020"/>
            <a:ext cx="54864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29870" y="4873020"/>
            <a:ext cx="716250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9350" y="4873020"/>
            <a:ext cx="54864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报障卡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6714805"/>
            <a:ext cx="5620542" cy="8138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6714805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897685"/>
            <a:ext cx="17419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GAMING 不误报</a:t>
            </a:r>
            <a:endParaRPr lang="en-US" sz="1584" dirty="0"/>
          </a:p>
        </p:txBody>
      </p:sp>
      <p:sp>
        <p:nvSpPr>
          <p:cNvPr id="27" name="Text 25"/>
          <p:cNvSpPr/>
          <p:nvPr/>
        </p:nvSpPr>
        <p:spPr>
          <a:xfrm>
            <a:off x="914400" y="7263445"/>
            <a:ext cx="571198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按场景过滤规则评估,报告与屏幕结论同源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7083582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3582" y="3154680"/>
            <a:ext cx="3429000" cy="22860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10634563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34563" y="3154680"/>
            <a:ext cx="3429000" cy="22860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652303" y="5562570"/>
            <a:ext cx="331401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健康分 · 证据链 · 一句话报障卡</a:t>
            </a:r>
            <a:endParaRPr lang="en-US" sz="15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211476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29413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更新重点 · 盯障模式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195822" y="720090"/>
            <a:ext cx="290834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抓普通诊断抓不到的偶发掉线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1002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抖动窗口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44700"/>
            <a:ext cx="339318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MTU 探测,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4307586" y="1913427"/>
            <a:ext cx="207507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重传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914400" y="2454843"/>
            <a:ext cx="1276655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差分,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1988363" y="2454843"/>
            <a:ext cx="28835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抓包切片取证</a:t>
            </a:r>
            <a:endParaRPr lang="en-US" sz="3720" dirty="0"/>
          </a:p>
        </p:txBody>
      </p:sp>
      <p:sp>
        <p:nvSpPr>
          <p:cNvPr id="14" name="Text 12"/>
          <p:cNvSpPr/>
          <p:nvPr/>
        </p:nvSpPr>
        <p:spPr>
          <a:xfrm>
            <a:off x="914400" y="3153948"/>
            <a:ext cx="55288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 窗口抖动检测 + 二分 MTU 探测 + 30s 重传采样,偶发故障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914400" y="3462558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无处藏身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914400" y="3929543"/>
            <a:ext cx="3786835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86"/>
              </a:lnSpc>
              <a:buNone/>
            </a:pPr>
            <a:r>
              <a:rPr lang="en-US" sz="6960" b="1" kern="0" spc="-20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错帧</a:t>
            </a:r>
            <a:endParaRPr lang="en-US" sz="6960" dirty="0"/>
          </a:p>
        </p:txBody>
      </p:sp>
      <p:sp>
        <p:nvSpPr>
          <p:cNvPr id="17" name="Text 15"/>
          <p:cNvSpPr/>
          <p:nvPr/>
        </p:nvSpPr>
        <p:spPr>
          <a:xfrm>
            <a:off x="4772828" y="4487509"/>
            <a:ext cx="125030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V1.11 新增</a:t>
            </a:r>
            <a:endParaRPr lang="en-US" sz="1452" dirty="0"/>
          </a:p>
        </p:txBody>
      </p:sp>
      <p:sp>
        <p:nvSpPr>
          <p:cNvPr id="18" name="Text 16"/>
          <p:cNvSpPr/>
          <p:nvPr/>
        </p:nvSpPr>
        <p:spPr>
          <a:xfrm>
            <a:off x="4772828" y="4761829"/>
            <a:ext cx="96633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 错帧实锤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4400" y="5181630"/>
            <a:ext cx="1021110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3970" y="5181630"/>
            <a:ext cx="85341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事件时间轴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26950" y="5181630"/>
            <a:ext cx="868680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6430" y="5181630"/>
            <a:ext cx="70107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分段定位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87070" y="5181630"/>
            <a:ext cx="1015167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6550" y="5181630"/>
            <a:ext cx="847466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 切片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6449629"/>
            <a:ext cx="5620542" cy="10789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6449629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632509"/>
            <a:ext cx="13884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强制百兆命令</a:t>
            </a:r>
            <a:endParaRPr lang="en-US" sz="1584" dirty="0"/>
          </a:p>
        </p:txBody>
      </p:sp>
      <p:sp>
        <p:nvSpPr>
          <p:cNvPr id="28" name="Text 26"/>
          <p:cNvSpPr/>
          <p:nvPr/>
        </p:nvSpPr>
        <p:spPr>
          <a:xfrm>
            <a:off x="914400" y="7028718"/>
            <a:ext cx="55872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网卡错误计数 30s 差分——抓包看不到的链路层错包,计数器是唯一证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14400" y="7293894"/>
            <a:ext cx="28529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7083582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3582" y="3154680"/>
            <a:ext cx="3429000" cy="22860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10634563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34563" y="3154680"/>
            <a:ext cx="3429000" cy="22860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135197" y="5562570"/>
            <a:ext cx="307421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--MONITOR / --CAPTURE</a:t>
            </a:r>
            <a:endParaRPr lang="en-US" sz="1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620945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76039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更新重点 · 现场检测模式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373685" y="720090"/>
            <a:ext cx="371379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装维上门一键流程 V1.13 → V1.14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10460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--SITE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44700"/>
            <a:ext cx="2252442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诊断+勾选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3075402" y="1944700"/>
            <a:ext cx="207507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PDF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5056358" y="1944700"/>
            <a:ext cx="148754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四件套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14400" y="2643805"/>
            <a:ext cx="54962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输入客户与签约带宽 → 全量诊断(排除压测) → 机房 6 项勾选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914400" y="2952415"/>
            <a:ext cx="4363791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一页客户报告/完整版/JSON/PDF 自动落地。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914400" y="3457712"/>
            <a:ext cx="675437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86"/>
              </a:lnSpc>
              <a:buNone/>
            </a:pPr>
            <a:r>
              <a:rPr lang="en-US" sz="6960" b="1" kern="0" spc="-200" dirty="0">
                <a:solidFill>
                  <a:srgbClr val="6E8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960" dirty="0"/>
          </a:p>
        </p:txBody>
      </p:sp>
      <p:sp>
        <p:nvSpPr>
          <p:cNvPr id="16" name="Text 14"/>
          <p:cNvSpPr/>
          <p:nvPr/>
        </p:nvSpPr>
        <p:spPr>
          <a:xfrm>
            <a:off x="1533632" y="3977274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件套</a:t>
            </a:r>
            <a:endParaRPr lang="en-US" sz="1452" dirty="0"/>
          </a:p>
        </p:txBody>
      </p:sp>
      <p:sp>
        <p:nvSpPr>
          <p:cNvPr id="17" name="Text 15"/>
          <p:cNvSpPr/>
          <p:nvPr/>
        </p:nvSpPr>
        <p:spPr>
          <a:xfrm>
            <a:off x="1533632" y="4251594"/>
            <a:ext cx="1696669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PDF/HTML/完整版/JSON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4400" y="4671395"/>
            <a:ext cx="866851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3970" y="4671395"/>
            <a:ext cx="743712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机房 6 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72691" y="4671395"/>
            <a:ext cx="1173450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02262" y="4671395"/>
            <a:ext cx="100584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签约达标判定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37672" y="4671395"/>
            <a:ext cx="1262512" cy="373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7151" y="4671395"/>
            <a:ext cx="1133856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检测明细 21 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6714805"/>
            <a:ext cx="5620542" cy="8138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6714805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897685"/>
            <a:ext cx="106660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PDF 能力</a:t>
            </a:r>
            <a:endParaRPr lang="en-US" sz="1584" dirty="0"/>
          </a:p>
        </p:txBody>
      </p:sp>
      <p:sp>
        <p:nvSpPr>
          <p:cNvPr id="27" name="Text 25"/>
          <p:cNvSpPr/>
          <p:nvPr/>
        </p:nvSpPr>
        <p:spPr>
          <a:xfrm>
            <a:off x="914400" y="7263445"/>
            <a:ext cx="565711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Chrome→Edge→默认浏览器探测链,Windows 自带,零额外安装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7083582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3582" y="3154680"/>
            <a:ext cx="3429000" cy="22860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10634563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34563" y="3154680"/>
            <a:ext cx="3429000" cy="22860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425623" y="5562570"/>
            <a:ext cx="36073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左图:真实现场报告(80 分 · B 级)</a:t>
            </a:r>
            <a:endParaRPr lang="en-US" sz="1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652961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69913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报告体系 / 07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233861" y="720090"/>
            <a:ext cx="266264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健康分 · 证据链 · 报障卡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253663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NETPULSE REPORT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44700"/>
            <a:ext cx="3997909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报告是给客户看的,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4780483" y="1944700"/>
            <a:ext cx="148754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技术细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914400" y="2454843"/>
            <a:ext cx="338812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节单独存 JSON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14400" y="3153948"/>
            <a:ext cx="541800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 -20 / 警告 -2,环境缺测不记过;每条结论带证据链与置信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914400" y="3462558"/>
            <a:ext cx="220589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度,异常项进待办清单。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914400" y="4037899"/>
            <a:ext cx="1662745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5552" y="4037899"/>
            <a:ext cx="11593" cy="1141354"/>
          </a:xfrm>
          <a:prstGeom prst="rect">
            <a:avLst/>
          </a:prstGeom>
          <a:solidFill>
            <a:srgbClr val="F3F2EE">
              <a:alpha val="4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13393"/>
            <a:ext cx="870509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212"/>
              </a:lnSpc>
              <a:buNone/>
            </a:pPr>
            <a:r>
              <a:rPr lang="en-US" sz="4680" b="1" kern="0" spc="-175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4680" dirty="0"/>
          </a:p>
        </p:txBody>
      </p:sp>
      <p:sp>
        <p:nvSpPr>
          <p:cNvPr id="18" name="Text 16"/>
          <p:cNvSpPr/>
          <p:nvPr/>
        </p:nvSpPr>
        <p:spPr>
          <a:xfrm>
            <a:off x="1669877" y="4312219"/>
            <a:ext cx="28675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分</a:t>
            </a:r>
            <a:endParaRPr lang="en-US" sz="1452" dirty="0"/>
          </a:p>
        </p:txBody>
      </p:sp>
      <p:sp>
        <p:nvSpPr>
          <p:cNvPr id="19" name="Text 17"/>
          <p:cNvSpPr/>
          <p:nvPr/>
        </p:nvSpPr>
        <p:spPr>
          <a:xfrm>
            <a:off x="914400" y="4679351"/>
            <a:ext cx="138074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真实报告 · B 级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2790474" y="4037899"/>
            <a:ext cx="1662745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1626" y="4037899"/>
            <a:ext cx="11593" cy="1141354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0474" y="4013393"/>
            <a:ext cx="490118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212"/>
              </a:lnSpc>
              <a:buNone/>
            </a:pPr>
            <a:r>
              <a:rPr lang="en-US" sz="4680" b="1" kern="0" spc="-175" dirty="0">
                <a:solidFill>
                  <a:srgbClr val="6E8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4680" dirty="0"/>
          </a:p>
        </p:txBody>
      </p:sp>
      <p:sp>
        <p:nvSpPr>
          <p:cNvPr id="23" name="Text 21"/>
          <p:cNvSpPr/>
          <p:nvPr/>
        </p:nvSpPr>
        <p:spPr>
          <a:xfrm>
            <a:off x="3191073" y="4312219"/>
            <a:ext cx="28675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条</a:t>
            </a:r>
            <a:endParaRPr lang="en-US" sz="1452" dirty="0"/>
          </a:p>
        </p:txBody>
      </p:sp>
      <p:sp>
        <p:nvSpPr>
          <p:cNvPr id="24" name="Text 22"/>
          <p:cNvSpPr/>
          <p:nvPr/>
        </p:nvSpPr>
        <p:spPr>
          <a:xfrm>
            <a:off x="2790474" y="4679351"/>
            <a:ext cx="13716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根因规则跨模块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2790474" y="4944527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4666549" y="4013393"/>
            <a:ext cx="490118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212"/>
              </a:lnSpc>
              <a:buNone/>
            </a:pPr>
            <a:r>
              <a:rPr lang="en-US" sz="4680" b="1" kern="0" spc="-175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680" dirty="0"/>
          </a:p>
        </p:txBody>
      </p:sp>
      <p:sp>
        <p:nvSpPr>
          <p:cNvPr id="27" name="Text 25"/>
          <p:cNvSpPr/>
          <p:nvPr/>
        </p:nvSpPr>
        <p:spPr>
          <a:xfrm>
            <a:off x="5067148" y="4312219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2" kern="0" spc="99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格式</a:t>
            </a:r>
            <a:endParaRPr lang="en-US" sz="1452" dirty="0"/>
          </a:p>
        </p:txBody>
      </p:sp>
      <p:sp>
        <p:nvSpPr>
          <p:cNvPr id="28" name="Text 26"/>
          <p:cNvSpPr/>
          <p:nvPr/>
        </p:nvSpPr>
        <p:spPr>
          <a:xfrm>
            <a:off x="4666549" y="4679351"/>
            <a:ext cx="142280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JSON ·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4666549" y="4944527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914400" y="6449629"/>
            <a:ext cx="5620542" cy="10789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6449629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6632509"/>
            <a:ext cx="11772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↳ 拿来即用</a:t>
            </a:r>
            <a:endParaRPr lang="en-US" sz="1584" dirty="0"/>
          </a:p>
        </p:txBody>
      </p:sp>
      <p:sp>
        <p:nvSpPr>
          <p:cNvPr id="33" name="Text 31"/>
          <p:cNvSpPr/>
          <p:nvPr/>
        </p:nvSpPr>
        <p:spPr>
          <a:xfrm>
            <a:off x="914400" y="7028718"/>
            <a:ext cx="564431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每张根因卡带建议复测命令,可直接复制发客服;HTML / JSON / PDF 三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914400" y="7293894"/>
            <a:ext cx="13716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格式同源导出。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7083582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3582" y="3154680"/>
            <a:ext cx="3429000" cy="22860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10634563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34563" y="3154680"/>
            <a:ext cx="3429000" cy="22860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0742280" y="5562570"/>
            <a:ext cx="30805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↗ 一页客户报告 · 80 分 B 级</a:t>
            </a:r>
            <a:endParaRPr lang="en-US" sz="15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211476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29413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完整功能 · 诊断模块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264597" y="720090"/>
            <a:ext cx="394138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按装维工作流分三大类,菜单/CLI 同源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4040429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项诊断模块全景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4982840" y="1600200"/>
            <a:ext cx="300371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a=基础信息 b=宽带测速 c=故障诊断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3994739"/>
            <a:ext cx="355976" cy="355976"/>
          </a:xfrm>
          <a:prstGeom prst="rect">
            <a:avLst/>
          </a:prstGeom>
          <a:solidFill>
            <a:srgbClr val="46443F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46637" y="3994739"/>
            <a:ext cx="355976" cy="355976"/>
          </a:xfrm>
          <a:prstGeom prst="rect">
            <a:avLst/>
          </a:prstGeom>
          <a:solidFill>
            <a:srgbClr val="46443F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8782" y="3994739"/>
            <a:ext cx="355976" cy="355976"/>
          </a:xfrm>
          <a:prstGeom prst="rect">
            <a:avLst/>
          </a:prstGeom>
          <a:solidFill>
            <a:srgbClr val="46443F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1019" y="3994739"/>
            <a:ext cx="355976" cy="355976"/>
          </a:xfrm>
          <a:prstGeom prst="rect">
            <a:avLst/>
          </a:prstGeom>
          <a:solidFill>
            <a:srgbClr val="46443F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43165" y="3994739"/>
            <a:ext cx="355976" cy="355976"/>
          </a:xfrm>
          <a:prstGeom prst="rect">
            <a:avLst/>
          </a:prstGeom>
          <a:solidFill>
            <a:srgbClr val="46443F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5402" y="3994739"/>
            <a:ext cx="355976" cy="355976"/>
          </a:xfrm>
          <a:prstGeom prst="rect">
            <a:avLst/>
          </a:prstGeom>
          <a:solidFill>
            <a:srgbClr val="46443F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7547" y="3994739"/>
            <a:ext cx="355976" cy="355976"/>
          </a:xfrm>
          <a:prstGeom prst="rect">
            <a:avLst/>
          </a:prstGeom>
          <a:solidFill>
            <a:srgbClr val="605E59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9784" y="3994739"/>
            <a:ext cx="355976" cy="355976"/>
          </a:xfrm>
          <a:prstGeom prst="rect">
            <a:avLst/>
          </a:prstGeom>
          <a:solidFill>
            <a:srgbClr val="605E59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2021" y="3994739"/>
            <a:ext cx="355976" cy="355976"/>
          </a:xfrm>
          <a:prstGeom prst="rect">
            <a:avLst/>
          </a:prstGeom>
          <a:solidFill>
            <a:srgbClr val="84827C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4166" y="3994739"/>
            <a:ext cx="355976" cy="355976"/>
          </a:xfrm>
          <a:prstGeom prst="rect">
            <a:avLst/>
          </a:prstGeom>
          <a:solidFill>
            <a:srgbClr val="84827C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6403" y="3994739"/>
            <a:ext cx="355976" cy="355976"/>
          </a:xfrm>
          <a:prstGeom prst="rect">
            <a:avLst/>
          </a:prstGeom>
          <a:solidFill>
            <a:srgbClr val="A9A7A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8548" y="3994739"/>
            <a:ext cx="355976" cy="355976"/>
          </a:xfrm>
          <a:prstGeom prst="rect">
            <a:avLst/>
          </a:prstGeom>
          <a:solidFill>
            <a:srgbClr val="A9A7A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0785" y="3994739"/>
            <a:ext cx="355976" cy="355976"/>
          </a:xfrm>
          <a:prstGeom prst="rect">
            <a:avLst/>
          </a:prstGeom>
          <a:solidFill>
            <a:srgbClr val="A9A7A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2931" y="3994739"/>
            <a:ext cx="355976" cy="355976"/>
          </a:xfrm>
          <a:prstGeom prst="rect">
            <a:avLst/>
          </a:prstGeom>
          <a:solidFill>
            <a:srgbClr val="A9A7A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426976"/>
            <a:ext cx="355976" cy="355976"/>
          </a:xfrm>
          <a:prstGeom prst="rect">
            <a:avLst/>
          </a:prstGeom>
          <a:solidFill>
            <a:srgbClr val="A9A7A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46637" y="4426976"/>
            <a:ext cx="355976" cy="355976"/>
          </a:xfrm>
          <a:prstGeom prst="rect">
            <a:avLst/>
          </a:prstGeom>
          <a:solidFill>
            <a:srgbClr val="A9A7A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8782" y="4426976"/>
            <a:ext cx="355976" cy="355976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0D1330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11019" y="4426976"/>
            <a:ext cx="355976" cy="355976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0D1330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43165" y="4426976"/>
            <a:ext cx="355976" cy="355976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0D1330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75402" y="4426976"/>
            <a:ext cx="355976" cy="355976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0D1330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07547" y="4426976"/>
            <a:ext cx="355976" cy="355976"/>
          </a:xfrm>
          <a:prstGeom prst="rect">
            <a:avLst/>
          </a:prstGeom>
          <a:solidFill>
            <a:srgbClr val="ECE9E2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9784" y="4426976"/>
            <a:ext cx="355976" cy="355976"/>
          </a:xfrm>
          <a:prstGeom prst="rect">
            <a:avLst/>
          </a:prstGeom>
          <a:solidFill>
            <a:srgbClr val="ECE9E2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72021" y="4426976"/>
            <a:ext cx="355976" cy="355976"/>
          </a:xfrm>
          <a:prstGeom prst="rect">
            <a:avLst/>
          </a:prstGeom>
          <a:solidFill>
            <a:srgbClr val="ECE9E2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4166" y="4426976"/>
            <a:ext cx="355976" cy="3559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6403" y="4426976"/>
            <a:ext cx="355976" cy="3559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8548" y="4426976"/>
            <a:ext cx="355976" cy="3559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00785" y="4426976"/>
            <a:ext cx="355976" cy="3559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2931" y="4426976"/>
            <a:ext cx="355976" cy="3559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920112"/>
            <a:ext cx="456843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8" kern="0" spc="81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支持单模块、分类字母、ALL 全量;并行模式下带宽敏感模块独占串行</a:t>
            </a:r>
            <a:endParaRPr lang="en-US" sz="1188" dirty="0"/>
          </a:p>
        </p:txBody>
      </p:sp>
      <p:sp>
        <p:nvSpPr>
          <p:cNvPr id="40" name="Shape 38"/>
          <p:cNvSpPr/>
          <p:nvPr/>
        </p:nvSpPr>
        <p:spPr>
          <a:xfrm>
            <a:off x="8535741" y="2064624"/>
            <a:ext cx="5180259" cy="498384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35741" y="2064624"/>
            <a:ext cx="11593" cy="498384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09091" y="2740823"/>
            <a:ext cx="4806909" cy="6065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09091" y="3335751"/>
            <a:ext cx="4806909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09091" y="2941168"/>
            <a:ext cx="198150" cy="198150"/>
          </a:xfrm>
          <a:prstGeom prst="rect">
            <a:avLst/>
          </a:prstGeom>
          <a:solidFill>
            <a:srgbClr val="4644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29131" y="2847533"/>
            <a:ext cx="88395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560" dirty="0"/>
          </a:p>
        </p:txBody>
      </p:sp>
      <p:sp>
        <p:nvSpPr>
          <p:cNvPr id="46" name="Text 44"/>
          <p:cNvSpPr/>
          <p:nvPr/>
        </p:nvSpPr>
        <p:spPr>
          <a:xfrm>
            <a:off x="9229131" y="3065343"/>
            <a:ext cx="161091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LINKSPEED…EGRESS</a:t>
            </a:r>
            <a:endParaRPr lang="en-US" sz="990" dirty="0"/>
          </a:p>
        </p:txBody>
      </p:sp>
      <p:sp>
        <p:nvSpPr>
          <p:cNvPr id="47" name="Text 45"/>
          <p:cNvSpPr/>
          <p:nvPr/>
        </p:nvSpPr>
        <p:spPr>
          <a:xfrm>
            <a:off x="13293090" y="2918308"/>
            <a:ext cx="2560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485571" y="2986888"/>
            <a:ext cx="23042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项</a:t>
            </a:r>
            <a:endParaRPr lang="en-US" sz="990" dirty="0"/>
          </a:p>
        </p:txBody>
      </p:sp>
      <p:sp>
        <p:nvSpPr>
          <p:cNvPr id="49" name="Shape 47"/>
          <p:cNvSpPr/>
          <p:nvPr/>
        </p:nvSpPr>
        <p:spPr>
          <a:xfrm>
            <a:off x="8909091" y="3347344"/>
            <a:ext cx="4806909" cy="6065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09091" y="3942273"/>
            <a:ext cx="4806909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09091" y="3547689"/>
            <a:ext cx="198150" cy="198150"/>
          </a:xfrm>
          <a:prstGeom prst="rect">
            <a:avLst/>
          </a:prstGeom>
          <a:solidFill>
            <a:srgbClr val="605E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29131" y="3453963"/>
            <a:ext cx="88395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宽带测速</a:t>
            </a:r>
            <a:endParaRPr lang="en-US" sz="1560" dirty="0"/>
          </a:p>
        </p:txBody>
      </p:sp>
      <p:sp>
        <p:nvSpPr>
          <p:cNvPr id="53" name="Text 51"/>
          <p:cNvSpPr/>
          <p:nvPr/>
        </p:nvSpPr>
        <p:spPr>
          <a:xfrm>
            <a:off x="9229131" y="3671865"/>
            <a:ext cx="151544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SPEEDTEST/BLOAT</a:t>
            </a:r>
            <a:endParaRPr lang="en-US" sz="990" dirty="0"/>
          </a:p>
        </p:txBody>
      </p:sp>
      <p:sp>
        <p:nvSpPr>
          <p:cNvPr id="54" name="Text 52"/>
          <p:cNvSpPr/>
          <p:nvPr/>
        </p:nvSpPr>
        <p:spPr>
          <a:xfrm>
            <a:off x="13293090" y="3524829"/>
            <a:ext cx="2560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3485571" y="3593409"/>
            <a:ext cx="23042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项</a:t>
            </a:r>
            <a:endParaRPr lang="en-US" sz="990" dirty="0"/>
          </a:p>
        </p:txBody>
      </p:sp>
      <p:sp>
        <p:nvSpPr>
          <p:cNvPr id="56" name="Shape 54"/>
          <p:cNvSpPr/>
          <p:nvPr/>
        </p:nvSpPr>
        <p:spPr>
          <a:xfrm>
            <a:off x="8909091" y="3953866"/>
            <a:ext cx="4806909" cy="6065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09091" y="4548794"/>
            <a:ext cx="4806909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09091" y="4154211"/>
            <a:ext cx="198150" cy="198150"/>
          </a:xfrm>
          <a:prstGeom prst="rect">
            <a:avLst/>
          </a:prstGeom>
          <a:solidFill>
            <a:srgbClr val="8482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29131" y="4060485"/>
            <a:ext cx="88395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吞吐压测</a:t>
            </a:r>
            <a:endParaRPr lang="en-US" sz="1560" dirty="0"/>
          </a:p>
        </p:txBody>
      </p:sp>
      <p:sp>
        <p:nvSpPr>
          <p:cNvPr id="60" name="Text 58"/>
          <p:cNvSpPr/>
          <p:nvPr/>
        </p:nvSpPr>
        <p:spPr>
          <a:xfrm>
            <a:off x="9229131" y="4278386"/>
            <a:ext cx="122903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IPERF3/TCPCC</a:t>
            </a:r>
            <a:endParaRPr lang="en-US" sz="990" dirty="0"/>
          </a:p>
        </p:txBody>
      </p:sp>
      <p:sp>
        <p:nvSpPr>
          <p:cNvPr id="61" name="Text 59"/>
          <p:cNvSpPr/>
          <p:nvPr/>
        </p:nvSpPr>
        <p:spPr>
          <a:xfrm>
            <a:off x="13293090" y="4131351"/>
            <a:ext cx="2560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3485571" y="4199931"/>
            <a:ext cx="23042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项</a:t>
            </a:r>
            <a:endParaRPr lang="en-US" sz="990" dirty="0"/>
          </a:p>
        </p:txBody>
      </p:sp>
      <p:sp>
        <p:nvSpPr>
          <p:cNvPr id="63" name="Shape 61"/>
          <p:cNvSpPr/>
          <p:nvPr/>
        </p:nvSpPr>
        <p:spPr>
          <a:xfrm>
            <a:off x="8909091" y="4560296"/>
            <a:ext cx="4806909" cy="6065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09091" y="5155224"/>
            <a:ext cx="4806909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09091" y="4760732"/>
            <a:ext cx="198150" cy="198150"/>
          </a:xfrm>
          <a:prstGeom prst="rect">
            <a:avLst/>
          </a:prstGeom>
          <a:solidFill>
            <a:srgbClr val="A9A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29131" y="4667006"/>
            <a:ext cx="88395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连通诊断</a:t>
            </a:r>
            <a:endParaRPr lang="en-US" sz="1560" dirty="0"/>
          </a:p>
        </p:txBody>
      </p:sp>
      <p:sp>
        <p:nvSpPr>
          <p:cNvPr id="67" name="Text 65"/>
          <p:cNvSpPr/>
          <p:nvPr/>
        </p:nvSpPr>
        <p:spPr>
          <a:xfrm>
            <a:off x="9229131" y="4884908"/>
            <a:ext cx="111093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GW/DNS/WEB…</a:t>
            </a:r>
            <a:endParaRPr lang="en-US" sz="990" dirty="0"/>
          </a:p>
        </p:txBody>
      </p:sp>
      <p:sp>
        <p:nvSpPr>
          <p:cNvPr id="68" name="Text 66"/>
          <p:cNvSpPr/>
          <p:nvPr/>
        </p:nvSpPr>
        <p:spPr>
          <a:xfrm>
            <a:off x="13293090" y="4737872"/>
            <a:ext cx="2560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3485571" y="4806452"/>
            <a:ext cx="23042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项</a:t>
            </a:r>
            <a:endParaRPr lang="en-US" sz="990" dirty="0"/>
          </a:p>
        </p:txBody>
      </p:sp>
      <p:sp>
        <p:nvSpPr>
          <p:cNvPr id="70" name="Shape 68"/>
          <p:cNvSpPr/>
          <p:nvPr/>
        </p:nvSpPr>
        <p:spPr>
          <a:xfrm>
            <a:off x="8909091" y="5166817"/>
            <a:ext cx="4806909" cy="6065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09091" y="5761746"/>
            <a:ext cx="4806909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09091" y="5367254"/>
            <a:ext cx="198150" cy="1981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29131" y="5273528"/>
            <a:ext cx="88395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56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传输质量</a:t>
            </a:r>
            <a:endParaRPr lang="en-US" sz="1560" dirty="0"/>
          </a:p>
        </p:txBody>
      </p:sp>
      <p:sp>
        <p:nvSpPr>
          <p:cNvPr id="74" name="Text 72"/>
          <p:cNvSpPr/>
          <p:nvPr/>
        </p:nvSpPr>
        <p:spPr>
          <a:xfrm>
            <a:off x="9229131" y="5491429"/>
            <a:ext cx="149281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TCP/PORT/ROUTE…</a:t>
            </a:r>
            <a:endParaRPr lang="en-US" sz="990" dirty="0"/>
          </a:p>
        </p:txBody>
      </p:sp>
      <p:sp>
        <p:nvSpPr>
          <p:cNvPr id="75" name="Text 73"/>
          <p:cNvSpPr/>
          <p:nvPr/>
        </p:nvSpPr>
        <p:spPr>
          <a:xfrm>
            <a:off x="13293090" y="5344394"/>
            <a:ext cx="2560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E8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3485571" y="5412974"/>
            <a:ext cx="23042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项</a:t>
            </a:r>
            <a:endParaRPr lang="en-US" sz="990" dirty="0"/>
          </a:p>
        </p:txBody>
      </p:sp>
      <p:sp>
        <p:nvSpPr>
          <p:cNvPr id="77" name="Shape 75"/>
          <p:cNvSpPr/>
          <p:nvPr/>
        </p:nvSpPr>
        <p:spPr>
          <a:xfrm>
            <a:off x="8909091" y="5973684"/>
            <a:ext cx="198150" cy="198150"/>
          </a:xfrm>
          <a:prstGeom prst="rect">
            <a:avLst/>
          </a:prstGeom>
          <a:solidFill>
            <a:srgbClr val="ECE9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29131" y="5880049"/>
            <a:ext cx="88395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安全探测</a:t>
            </a:r>
            <a:endParaRPr lang="en-US" sz="1560" dirty="0"/>
          </a:p>
        </p:txBody>
      </p:sp>
      <p:sp>
        <p:nvSpPr>
          <p:cNvPr id="79" name="Text 77"/>
          <p:cNvSpPr/>
          <p:nvPr/>
        </p:nvSpPr>
        <p:spPr>
          <a:xfrm>
            <a:off x="9229131" y="6097859"/>
            <a:ext cx="169506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MTU/PROXY/NATTYPE</a:t>
            </a:r>
            <a:endParaRPr lang="en-US" sz="990" dirty="0"/>
          </a:p>
        </p:txBody>
      </p:sp>
      <p:sp>
        <p:nvSpPr>
          <p:cNvPr id="80" name="Text 78"/>
          <p:cNvSpPr/>
          <p:nvPr/>
        </p:nvSpPr>
        <p:spPr>
          <a:xfrm>
            <a:off x="13293090" y="5950824"/>
            <a:ext cx="2560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13485571" y="6019404"/>
            <a:ext cx="23042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项</a:t>
            </a:r>
            <a:endParaRPr lang="en-US" sz="990" dirty="0"/>
          </a:p>
        </p:txBody>
      </p:sp>
      <p:sp>
        <p:nvSpPr>
          <p:cNvPr id="82" name="Shape 80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全量口径</a:t>
            </a:r>
            <a:endParaRPr lang="en-US" sz="1584" dirty="0"/>
          </a:p>
        </p:txBody>
      </p:sp>
      <p:sp>
        <p:nvSpPr>
          <p:cNvPr id="85" name="Text 83"/>
          <p:cNvSpPr/>
          <p:nvPr/>
        </p:nvSpPr>
        <p:spPr>
          <a:xfrm>
            <a:off x="1826971" y="7275424"/>
            <a:ext cx="2421971" cy="259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基础6 /测速2 /压测2 /诊断6 /传输7</a:t>
            </a:r>
            <a:endParaRPr lang="en-US" sz="1260" dirty="0"/>
          </a:p>
        </p:txBody>
      </p:sp>
      <p:pic>
        <p:nvPicPr>
          <p:cNvPr id="8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88395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211476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29413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使用介绍 · 运行方式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2552883" y="720090"/>
            <a:ext cx="13884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按场景选入口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334899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四种用法怎么选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4324380" y="1600200"/>
            <a:ext cx="403323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新手双击即用,工程师参数精控,装维现场一键交付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 rot="10800000">
            <a:off x="921990" y="4104284"/>
            <a:ext cx="269898" cy="794796"/>
          </a:xfrm>
          <a:prstGeom prst="rect">
            <a:avLst/>
          </a:prstGeom>
          <a:noFill/>
          <a:ln/>
        </p:spPr>
        <p:txBody>
          <a:bodyPr vert="eaVert"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4" kern="0" spc="86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自动化程度</a:t>
            </a:r>
            <a:endParaRPr lang="en-US" sz="1254" dirty="0"/>
          </a:p>
        </p:txBody>
      </p:sp>
      <p:sp>
        <p:nvSpPr>
          <p:cNvPr id="12" name="Shape 10"/>
          <p:cNvSpPr/>
          <p:nvPr/>
        </p:nvSpPr>
        <p:spPr>
          <a:xfrm>
            <a:off x="1249710" y="1912285"/>
            <a:ext cx="12466290" cy="48771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919874"/>
            <a:ext cx="12451110" cy="48619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175772" y="2026585"/>
            <a:ext cx="52797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6" b="1" kern="0" spc="72" dirty="0">
                <a:solidFill>
                  <a:srgbClr val="5F8F0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推荐区</a:t>
            </a:r>
            <a:endParaRPr lang="en-US" sz="1056" dirty="0"/>
          </a:p>
        </p:txBody>
      </p:sp>
      <p:sp>
        <p:nvSpPr>
          <p:cNvPr id="15" name="Text 12"/>
          <p:cNvSpPr/>
          <p:nvPr/>
        </p:nvSpPr>
        <p:spPr>
          <a:xfrm>
            <a:off x="1379190" y="6492240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6" b="1" kern="0" spc="72" dirty="0">
                <a:solidFill>
                  <a:srgbClr val="B04A2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避免</a:t>
            </a:r>
            <a:endParaRPr lang="en-US" sz="1056" dirty="0"/>
          </a:p>
        </p:txBody>
      </p:sp>
      <p:sp>
        <p:nvSpPr>
          <p:cNvPr id="16" name="Shape 13"/>
          <p:cNvSpPr/>
          <p:nvPr/>
        </p:nvSpPr>
        <p:spPr>
          <a:xfrm>
            <a:off x="1915759" y="2515240"/>
            <a:ext cx="365760" cy="365760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50099" y="2538100"/>
            <a:ext cx="70107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场景菜单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50099" y="2705710"/>
            <a:ext cx="1524231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双击 EXE,按现象一键诊断</a:t>
            </a:r>
            <a:endParaRPr lang="en-US" sz="858" dirty="0"/>
          </a:p>
        </p:txBody>
      </p:sp>
      <p:sp>
        <p:nvSpPr>
          <p:cNvPr id="19" name="Shape 16"/>
          <p:cNvSpPr/>
          <p:nvPr/>
        </p:nvSpPr>
        <p:spPr>
          <a:xfrm>
            <a:off x="4228460" y="2866278"/>
            <a:ext cx="324521" cy="324521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1560" y="2868564"/>
            <a:ext cx="94792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--diagnose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21560" y="3036174"/>
            <a:ext cx="1345749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脚本/远程执行场景诊断</a:t>
            </a:r>
            <a:endParaRPr lang="en-US" sz="858" dirty="0"/>
          </a:p>
        </p:txBody>
      </p:sp>
      <p:sp>
        <p:nvSpPr>
          <p:cNvPr id="22" name="Shape 19"/>
          <p:cNvSpPr/>
          <p:nvPr/>
        </p:nvSpPr>
        <p:spPr>
          <a:xfrm>
            <a:off x="5702930" y="2317913"/>
            <a:ext cx="288036" cy="288036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9546" y="2301911"/>
            <a:ext cx="61264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--site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59546" y="2469612"/>
            <a:ext cx="140662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现场全量+客户报告 PDF</a:t>
            </a:r>
            <a:endParaRPr lang="en-US" sz="858" dirty="0"/>
          </a:p>
        </p:txBody>
      </p:sp>
      <p:sp>
        <p:nvSpPr>
          <p:cNvPr id="25" name="Shape 22"/>
          <p:cNvSpPr/>
          <p:nvPr/>
        </p:nvSpPr>
        <p:spPr>
          <a:xfrm>
            <a:off x="6806885" y="3177083"/>
            <a:ext cx="269657" cy="269657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45122" y="3151937"/>
            <a:ext cx="8641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--monitor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45122" y="3319546"/>
            <a:ext cx="115520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长时盯障抓偶发掉线</a:t>
            </a:r>
            <a:endParaRPr lang="en-US" sz="858" dirty="0"/>
          </a:p>
        </p:txBody>
      </p:sp>
      <p:sp>
        <p:nvSpPr>
          <p:cNvPr id="28" name="Shape 25"/>
          <p:cNvSpPr/>
          <p:nvPr/>
        </p:nvSpPr>
        <p:spPr>
          <a:xfrm>
            <a:off x="3570641" y="3986693"/>
            <a:ext cx="255941" cy="255941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95161" y="3954689"/>
            <a:ext cx="85341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工程师菜单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895161" y="4122298"/>
            <a:ext cx="150461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[9] 单模块/分类自由组合</a:t>
            </a:r>
            <a:endParaRPr lang="en-US" sz="858" dirty="0"/>
          </a:p>
        </p:txBody>
      </p:sp>
      <p:sp>
        <p:nvSpPr>
          <p:cNvPr id="31" name="Shape 28"/>
          <p:cNvSpPr/>
          <p:nvPr/>
        </p:nvSpPr>
        <p:spPr>
          <a:xfrm>
            <a:off x="6202832" y="4463369"/>
            <a:ext cx="246797" cy="246797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8300" y="4426885"/>
            <a:ext cx="89001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单模块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518300" y="4594494"/>
            <a:ext cx="115520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模块名任意组合直跑</a:t>
            </a:r>
            <a:endParaRPr lang="en-US" sz="858" dirty="0"/>
          </a:p>
        </p:txBody>
      </p:sp>
      <p:sp>
        <p:nvSpPr>
          <p:cNvPr id="34" name="Shape 31"/>
          <p:cNvSpPr/>
          <p:nvPr/>
        </p:nvSpPr>
        <p:spPr>
          <a:xfrm>
            <a:off x="9048079" y="3646993"/>
            <a:ext cx="274320" cy="274320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90979" y="3624133"/>
            <a:ext cx="61264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--json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390979" y="3791742"/>
            <a:ext cx="165897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AGENT / RMM 机器可读</a:t>
            </a:r>
            <a:endParaRPr lang="en-US" sz="858" dirty="0"/>
          </a:p>
        </p:txBody>
      </p:sp>
      <p:sp>
        <p:nvSpPr>
          <p:cNvPr id="37" name="Shape 34"/>
          <p:cNvSpPr/>
          <p:nvPr/>
        </p:nvSpPr>
        <p:spPr>
          <a:xfrm>
            <a:off x="7995331" y="4933371"/>
            <a:ext cx="251460" cy="251460"/>
          </a:xfrm>
          <a:prstGeom prst="ellipse">
            <a:avLst/>
          </a:prstGeom>
          <a:solidFill>
            <a:srgbClr val="6E85FF">
              <a:alpha val="1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15371" y="4899081"/>
            <a:ext cx="78028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--export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315371" y="5066690"/>
            <a:ext cx="134988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HTML/JSON 报告归档</a:t>
            </a:r>
            <a:endParaRPr lang="en-US" sz="858" dirty="0"/>
          </a:p>
        </p:txBody>
      </p:sp>
      <p:sp>
        <p:nvSpPr>
          <p:cNvPr id="40" name="Shape 37"/>
          <p:cNvSpPr/>
          <p:nvPr/>
        </p:nvSpPr>
        <p:spPr>
          <a:xfrm>
            <a:off x="2875331" y="5836615"/>
            <a:ext cx="333756" cy="333756"/>
          </a:xfrm>
          <a:prstGeom prst="ellipse">
            <a:avLst/>
          </a:prstGeom>
          <a:solidFill>
            <a:srgbClr val="B04A2F">
              <a:alpha val="15000"/>
            </a:srgbClr>
          </a:solidFill>
          <a:ln w="19050">
            <a:solidFill>
              <a:srgbClr val="B04A2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77575" y="5843382"/>
            <a:ext cx="85341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客户网压测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277575" y="6011083"/>
            <a:ext cx="167103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--SITE 已自动排除 TCPCC</a:t>
            </a:r>
            <a:endParaRPr lang="en-US" sz="858" dirty="0"/>
          </a:p>
        </p:txBody>
      </p:sp>
      <p:sp>
        <p:nvSpPr>
          <p:cNvPr id="43" name="Shape 40"/>
          <p:cNvSpPr/>
          <p:nvPr/>
        </p:nvSpPr>
        <p:spPr>
          <a:xfrm>
            <a:off x="6703375" y="5641665"/>
            <a:ext cx="251460" cy="251460"/>
          </a:xfrm>
          <a:prstGeom prst="ellipse">
            <a:avLst/>
          </a:prstGeom>
          <a:solidFill>
            <a:srgbClr val="B04A2F">
              <a:alpha val="15000"/>
            </a:srgbClr>
          </a:solidFill>
          <a:ln w="19050">
            <a:solidFill>
              <a:srgbClr val="B04A2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23415" y="5607375"/>
            <a:ext cx="114147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盯障反复跑 all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023415" y="5774985"/>
            <a:ext cx="139042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带宽敏感模块会互相干扰</a:t>
            </a:r>
            <a:endParaRPr lang="en-US" sz="858" dirty="0"/>
          </a:p>
        </p:txBody>
      </p:sp>
      <p:sp>
        <p:nvSpPr>
          <p:cNvPr id="46" name="Shape 43"/>
          <p:cNvSpPr/>
          <p:nvPr/>
        </p:nvSpPr>
        <p:spPr>
          <a:xfrm>
            <a:off x="6672834" y="6017209"/>
            <a:ext cx="255941" cy="255941"/>
          </a:xfrm>
          <a:prstGeom prst="ellipse">
            <a:avLst/>
          </a:prstGeom>
          <a:solidFill>
            <a:srgbClr val="B04A2F">
              <a:alpha val="15000"/>
            </a:srgbClr>
          </a:solidFill>
          <a:ln w="19050">
            <a:solidFill>
              <a:srgbClr val="B04A2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97446" y="5985114"/>
            <a:ext cx="70256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txt 导出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997446" y="6152815"/>
            <a:ext cx="154042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8" kern="0" spc="59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已废弃,改用 HTML/JSON</a:t>
            </a:r>
            <a:endParaRPr lang="en-US" sz="858" dirty="0"/>
          </a:p>
        </p:txBody>
      </p:sp>
      <p:sp>
        <p:nvSpPr>
          <p:cNvPr id="49" name="Text 46"/>
          <p:cNvSpPr/>
          <p:nvPr/>
        </p:nvSpPr>
        <p:spPr>
          <a:xfrm>
            <a:off x="7004761" y="6850410"/>
            <a:ext cx="956097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4" kern="0" spc="86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上手门槛 →</a:t>
            </a:r>
            <a:endParaRPr lang="en-US" sz="1254" dirty="0"/>
          </a:p>
        </p:txBody>
      </p:sp>
      <p:sp>
        <p:nvSpPr>
          <p:cNvPr id="50" name="Shape 47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14400" y="725421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原则</a:t>
            </a:r>
            <a:endParaRPr lang="en-US" sz="1584" dirty="0"/>
          </a:p>
        </p:txBody>
      </p:sp>
      <p:sp>
        <p:nvSpPr>
          <p:cNvPr id="53" name="Text 50"/>
          <p:cNvSpPr/>
          <p:nvPr/>
        </p:nvSpPr>
        <p:spPr>
          <a:xfrm>
            <a:off x="1439357" y="7275424"/>
            <a:ext cx="3441436" cy="259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关键功能在命令行窗口内全部可达,不强迫记参数</a:t>
            </a:r>
            <a:endParaRPr lang="en-US" sz="1260" dirty="0"/>
          </a:p>
        </p:txBody>
      </p:sp>
      <p:pic>
        <p:nvPicPr>
          <p:cNvPr id="5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5960" y="838230"/>
            <a:ext cx="899130" cy="899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11376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真实环境截图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971233" y="720090"/>
            <a:ext cx="20398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全部为本机实跑产出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57929"/>
            <a:ext cx="218374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上手即用: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926537" y="1357929"/>
            <a:ext cx="28835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四种界面实拍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5871088" y="1600200"/>
            <a:ext cx="472561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双击即用;工程师按分类组合;测速/盯障/现场各自独立报告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914400" y="3184581"/>
            <a:ext cx="3108960" cy="207267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3184581"/>
            <a:ext cx="3108960" cy="207267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145250" y="3184581"/>
            <a:ext cx="3108960" cy="207267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45250" y="3184581"/>
            <a:ext cx="3108960" cy="207267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376190" y="3184581"/>
            <a:ext cx="3108960" cy="207267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76190" y="3184581"/>
            <a:ext cx="3108960" cy="207267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607040" y="3184581"/>
            <a:ext cx="3108960" cy="207267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607040" y="3184581"/>
            <a:ext cx="3108960" cy="207267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14400" y="6590629"/>
            <a:ext cx="305373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4400" y="6590629"/>
            <a:ext cx="3053730" cy="34779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956537" y="6590629"/>
            <a:ext cx="11593" cy="937992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14400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场景菜单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3238165" y="6864949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四图实拍</a:t>
            </a:r>
            <a:endParaRPr lang="en-US" sz="924" dirty="0"/>
          </a:p>
        </p:txBody>
      </p:sp>
      <p:sp>
        <p:nvSpPr>
          <p:cNvPr id="25" name="Text 19"/>
          <p:cNvSpPr/>
          <p:nvPr/>
        </p:nvSpPr>
        <p:spPr>
          <a:xfrm>
            <a:off x="3690610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</a:t>
            </a:r>
            <a:endParaRPr lang="en-US" sz="924" dirty="0"/>
          </a:p>
        </p:txBody>
      </p:sp>
      <p:sp>
        <p:nvSpPr>
          <p:cNvPr id="26" name="Text 20"/>
          <p:cNvSpPr/>
          <p:nvPr/>
        </p:nvSpPr>
        <p:spPr>
          <a:xfrm>
            <a:off x="914400" y="7116409"/>
            <a:ext cx="63753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双击入口</a:t>
            </a:r>
            <a:endParaRPr lang="en-US" sz="990" dirty="0"/>
          </a:p>
        </p:txBody>
      </p:sp>
      <p:sp>
        <p:nvSpPr>
          <p:cNvPr id="27" name="Text 21"/>
          <p:cNvSpPr/>
          <p:nvPr/>
        </p:nvSpPr>
        <p:spPr>
          <a:xfrm>
            <a:off x="914400" y="7352599"/>
            <a:ext cx="177549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无参数启动,按现象选择场景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166189" y="6590629"/>
            <a:ext cx="305373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166189" y="6590629"/>
            <a:ext cx="305373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08326" y="6590629"/>
            <a:ext cx="11593" cy="937992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166189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模块清单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489954" y="6864949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四图实拍</a:t>
            </a:r>
            <a:endParaRPr lang="en-US" sz="924" dirty="0"/>
          </a:p>
        </p:txBody>
      </p:sp>
      <p:sp>
        <p:nvSpPr>
          <p:cNvPr id="33" name="Text 27"/>
          <p:cNvSpPr/>
          <p:nvPr/>
        </p:nvSpPr>
        <p:spPr>
          <a:xfrm>
            <a:off x="6942399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</a:t>
            </a:r>
            <a:endParaRPr lang="en-US" sz="924" dirty="0"/>
          </a:p>
        </p:txBody>
      </p:sp>
      <p:sp>
        <p:nvSpPr>
          <p:cNvPr id="34" name="Text 28"/>
          <p:cNvSpPr/>
          <p:nvPr/>
        </p:nvSpPr>
        <p:spPr>
          <a:xfrm>
            <a:off x="4166189" y="7116409"/>
            <a:ext cx="64490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--LIST</a:t>
            </a:r>
            <a:endParaRPr lang="en-US" sz="990" dirty="0"/>
          </a:p>
        </p:txBody>
      </p:sp>
      <p:sp>
        <p:nvSpPr>
          <p:cNvPr id="35" name="Text 29"/>
          <p:cNvSpPr/>
          <p:nvPr/>
        </p:nvSpPr>
        <p:spPr>
          <a:xfrm>
            <a:off x="4166189" y="7352599"/>
            <a:ext cx="2379726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个模块三类分组,分类字母快捷运行</a:t>
            </a:r>
            <a:endParaRPr lang="en-US" sz="1080" dirty="0"/>
          </a:p>
        </p:txBody>
      </p:sp>
      <p:sp>
        <p:nvSpPr>
          <p:cNvPr id="36" name="Shape 30"/>
          <p:cNvSpPr/>
          <p:nvPr/>
        </p:nvSpPr>
        <p:spPr>
          <a:xfrm>
            <a:off x="7418070" y="6590629"/>
            <a:ext cx="305373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418070" y="6590629"/>
            <a:ext cx="305373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460207" y="6590629"/>
            <a:ext cx="11593" cy="937992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18070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测速报告</a:t>
            </a:r>
            <a:endParaRPr lang="en-US" sz="1800" dirty="0"/>
          </a:p>
        </p:txBody>
      </p:sp>
      <p:sp>
        <p:nvSpPr>
          <p:cNvPr id="40" name="Text 34"/>
          <p:cNvSpPr/>
          <p:nvPr/>
        </p:nvSpPr>
        <p:spPr>
          <a:xfrm>
            <a:off x="9741835" y="6864949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四图实拍</a:t>
            </a:r>
            <a:endParaRPr lang="en-US" sz="924" dirty="0"/>
          </a:p>
        </p:txBody>
      </p:sp>
      <p:sp>
        <p:nvSpPr>
          <p:cNvPr id="41" name="Text 35"/>
          <p:cNvSpPr/>
          <p:nvPr/>
        </p:nvSpPr>
        <p:spPr>
          <a:xfrm>
            <a:off x="10194280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</a:t>
            </a:r>
            <a:endParaRPr lang="en-US" sz="924" dirty="0"/>
          </a:p>
        </p:txBody>
      </p:sp>
      <p:sp>
        <p:nvSpPr>
          <p:cNvPr id="42" name="Text 36"/>
          <p:cNvSpPr/>
          <p:nvPr/>
        </p:nvSpPr>
        <p:spPr>
          <a:xfrm>
            <a:off x="7418070" y="7116409"/>
            <a:ext cx="63753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带宽体检</a:t>
            </a:r>
            <a:endParaRPr lang="en-US" sz="990" dirty="0"/>
          </a:p>
        </p:txBody>
      </p:sp>
      <p:sp>
        <p:nvSpPr>
          <p:cNvPr id="43" name="Text 37"/>
          <p:cNvSpPr/>
          <p:nvPr/>
        </p:nvSpPr>
        <p:spPr>
          <a:xfrm>
            <a:off x="7418070" y="7352599"/>
            <a:ext cx="2725369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下行 74.2 Mbps 实测,签约 500M 达标判定</a:t>
            </a:r>
            <a:endParaRPr lang="en-US" sz="1080" dirty="0"/>
          </a:p>
        </p:txBody>
      </p:sp>
      <p:sp>
        <p:nvSpPr>
          <p:cNvPr id="44" name="Shape 38"/>
          <p:cNvSpPr/>
          <p:nvPr/>
        </p:nvSpPr>
        <p:spPr>
          <a:xfrm>
            <a:off x="10669859" y="6590629"/>
            <a:ext cx="3046141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0669859" y="6590629"/>
            <a:ext cx="3046141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10669859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报告明细</a:t>
            </a:r>
            <a:endParaRPr lang="en-US" sz="1800" dirty="0"/>
          </a:p>
        </p:txBody>
      </p:sp>
      <p:sp>
        <p:nvSpPr>
          <p:cNvPr id="47" name="Text 41"/>
          <p:cNvSpPr/>
          <p:nvPr/>
        </p:nvSpPr>
        <p:spPr>
          <a:xfrm>
            <a:off x="12993624" y="6864949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四图实拍</a:t>
            </a:r>
            <a:endParaRPr lang="en-US" sz="924" dirty="0"/>
          </a:p>
        </p:txBody>
      </p:sp>
      <p:sp>
        <p:nvSpPr>
          <p:cNvPr id="48" name="Text 42"/>
          <p:cNvSpPr/>
          <p:nvPr/>
        </p:nvSpPr>
        <p:spPr>
          <a:xfrm>
            <a:off x="13446069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4" kern="0" spc="63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</a:t>
            </a:r>
            <a:endParaRPr lang="en-US" sz="924" dirty="0"/>
          </a:p>
        </p:txBody>
      </p:sp>
      <p:sp>
        <p:nvSpPr>
          <p:cNvPr id="49" name="Text 43"/>
          <p:cNvSpPr/>
          <p:nvPr/>
        </p:nvSpPr>
        <p:spPr>
          <a:xfrm>
            <a:off x="10669859" y="7116409"/>
            <a:ext cx="90894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检测结果一览</a:t>
            </a:r>
            <a:endParaRPr lang="en-US" sz="990" dirty="0"/>
          </a:p>
        </p:txBody>
      </p:sp>
      <p:sp>
        <p:nvSpPr>
          <p:cNvPr id="50" name="Text 44"/>
          <p:cNvSpPr/>
          <p:nvPr/>
        </p:nvSpPr>
        <p:spPr>
          <a:xfrm>
            <a:off x="10669859" y="7352599"/>
            <a:ext cx="240981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每模块结论+关键指标,技术细节可展开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019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上手路径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777381" y="720090"/>
            <a:ext cx="22569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三分钟从下载到出报告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11232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18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372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450" y="975390"/>
            <a:ext cx="1417320" cy="1417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4400" y="2079894"/>
            <a:ext cx="5787420" cy="7543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799495"/>
            <a:ext cx="5787420" cy="34779"/>
          </a:xfrm>
          <a:prstGeom prst="rect">
            <a:avLst/>
          </a:prstGeom>
          <a:solidFill>
            <a:srgbClr val="C2F53D"/>
          </a:solidFill>
          <a:ln w="12700">
            <a:solidFill>
              <a:srgbClr val="C2F53D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209465"/>
            <a:ext cx="335310" cy="335310"/>
          </a:xfrm>
          <a:prstGeom prst="rect">
            <a:avLst/>
          </a:prstGeom>
          <a:solidFill>
            <a:srgbClr val="C2F5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2548" y="2209465"/>
            <a:ext cx="25054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80" b="1" dirty="0">
                <a:solidFill>
                  <a:srgbClr val="16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80" dirty="0"/>
          </a:p>
        </p:txBody>
      </p:sp>
      <p:sp>
        <p:nvSpPr>
          <p:cNvPr id="15" name="Text 12"/>
          <p:cNvSpPr/>
          <p:nvPr/>
        </p:nvSpPr>
        <p:spPr>
          <a:xfrm>
            <a:off x="1371600" y="2081814"/>
            <a:ext cx="1298539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400" b="1" kern="0" spc="-3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371600" y="2430384"/>
            <a:ext cx="103864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6" kern="0" spc="95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按推荐顺序</a:t>
            </a:r>
            <a:endParaRPr lang="en-US" sz="1386" dirty="0"/>
          </a:p>
        </p:txBody>
      </p:sp>
      <p:sp>
        <p:nvSpPr>
          <p:cNvPr id="17" name="Shape 14"/>
          <p:cNvSpPr/>
          <p:nvPr/>
        </p:nvSpPr>
        <p:spPr>
          <a:xfrm>
            <a:off x="914400" y="2834274"/>
            <a:ext cx="5787420" cy="12237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4046423"/>
            <a:ext cx="578742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001884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C2F5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584" dirty="0"/>
          </a:p>
        </p:txBody>
      </p:sp>
      <p:sp>
        <p:nvSpPr>
          <p:cNvPr id="20" name="Text 17"/>
          <p:cNvSpPr/>
          <p:nvPr/>
        </p:nvSpPr>
        <p:spPr>
          <a:xfrm>
            <a:off x="1371600" y="3056702"/>
            <a:ext cx="94485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</a:t>
            </a:r>
            <a:endParaRPr lang="en-US" sz="1680" dirty="0"/>
          </a:p>
        </p:txBody>
      </p:sp>
      <p:sp>
        <p:nvSpPr>
          <p:cNvPr id="21" name="Text 18"/>
          <p:cNvSpPr/>
          <p:nvPr/>
        </p:nvSpPr>
        <p:spPr>
          <a:xfrm>
            <a:off x="1371600" y="3382914"/>
            <a:ext cx="460848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 NetPulse.exe → 场景菜单选现象 → 看健康分与根因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1371600" y="3648090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40" dirty="0"/>
          </a:p>
        </p:txBody>
      </p:sp>
      <p:sp>
        <p:nvSpPr>
          <p:cNvPr id="23" name="Shape 20"/>
          <p:cNvSpPr/>
          <p:nvPr/>
        </p:nvSpPr>
        <p:spPr>
          <a:xfrm>
            <a:off x="914400" y="4058016"/>
            <a:ext cx="5787420" cy="12237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4400" y="5270164"/>
            <a:ext cx="578742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225625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C2F5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84" dirty="0"/>
          </a:p>
        </p:txBody>
      </p:sp>
      <p:sp>
        <p:nvSpPr>
          <p:cNvPr id="26" name="Text 23"/>
          <p:cNvSpPr/>
          <p:nvPr/>
        </p:nvSpPr>
        <p:spPr>
          <a:xfrm>
            <a:off x="1371600" y="4280443"/>
            <a:ext cx="115827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装维工程师</a:t>
            </a:r>
            <a:endParaRPr lang="en-US" sz="1680" dirty="0"/>
          </a:p>
        </p:txBody>
      </p:sp>
      <p:sp>
        <p:nvSpPr>
          <p:cNvPr id="27" name="Text 24"/>
          <p:cNvSpPr/>
          <p:nvPr/>
        </p:nvSpPr>
        <p:spPr>
          <a:xfrm>
            <a:off x="1371600" y="4606656"/>
            <a:ext cx="447461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--site 输客户名与签约带宽 → 自动出 PDF 客户报告直接</a:t>
            </a:r>
            <a:endParaRPr lang="en-US" sz="1440" dirty="0"/>
          </a:p>
        </p:txBody>
      </p:sp>
      <p:sp>
        <p:nvSpPr>
          <p:cNvPr id="28" name="Text 25"/>
          <p:cNvSpPr/>
          <p:nvPr/>
        </p:nvSpPr>
        <p:spPr>
          <a:xfrm>
            <a:off x="1371600" y="4871832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</a:t>
            </a:r>
            <a:endParaRPr lang="en-US" sz="1440" dirty="0"/>
          </a:p>
        </p:txBody>
      </p:sp>
      <p:sp>
        <p:nvSpPr>
          <p:cNvPr id="29" name="Shape 26"/>
          <p:cNvSpPr/>
          <p:nvPr/>
        </p:nvSpPr>
        <p:spPr>
          <a:xfrm>
            <a:off x="914400" y="5281757"/>
            <a:ext cx="5787420" cy="95856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" y="6228730"/>
            <a:ext cx="578742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5449367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C2F5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84" dirty="0"/>
          </a:p>
        </p:txBody>
      </p:sp>
      <p:sp>
        <p:nvSpPr>
          <p:cNvPr id="32" name="Text 29"/>
          <p:cNvSpPr/>
          <p:nvPr/>
        </p:nvSpPr>
        <p:spPr>
          <a:xfrm>
            <a:off x="1371600" y="5504093"/>
            <a:ext cx="94485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深度排障</a:t>
            </a:r>
            <a:endParaRPr lang="en-US" sz="1680" dirty="0"/>
          </a:p>
        </p:txBody>
      </p:sp>
      <p:sp>
        <p:nvSpPr>
          <p:cNvPr id="33" name="Text 30"/>
          <p:cNvSpPr/>
          <p:nvPr/>
        </p:nvSpPr>
        <p:spPr>
          <a:xfrm>
            <a:off x="1371600" y="5799856"/>
            <a:ext cx="4349709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--monitor 1800 盯障 → 异常时段开 --capture 取证切片</a:t>
            </a:r>
            <a:endParaRPr lang="en-US" sz="1440" dirty="0"/>
          </a:p>
        </p:txBody>
      </p:sp>
      <p:sp>
        <p:nvSpPr>
          <p:cNvPr id="34" name="Shape 31"/>
          <p:cNvSpPr/>
          <p:nvPr/>
        </p:nvSpPr>
        <p:spPr>
          <a:xfrm>
            <a:off x="7311360" y="2079894"/>
            <a:ext cx="7590" cy="4909139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28580" y="2079894"/>
            <a:ext cx="5787420" cy="7543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28580" y="2799495"/>
            <a:ext cx="5787420" cy="34779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928580" y="2209465"/>
            <a:ext cx="335310" cy="33531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62631" y="2209465"/>
            <a:ext cx="22707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680" dirty="0"/>
          </a:p>
        </p:txBody>
      </p:sp>
      <p:sp>
        <p:nvSpPr>
          <p:cNvPr id="39" name="Text 36"/>
          <p:cNvSpPr/>
          <p:nvPr/>
        </p:nvSpPr>
        <p:spPr>
          <a:xfrm>
            <a:off x="8385780" y="2081814"/>
            <a:ext cx="1298539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400" b="1" kern="0" spc="-3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避坑指南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8385780" y="2430384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6" kern="0" spc="95" dirty="0">
                <a:solidFill>
                  <a:srgbClr val="84827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三条红线</a:t>
            </a:r>
            <a:endParaRPr lang="en-US" sz="1386" dirty="0"/>
          </a:p>
        </p:txBody>
      </p:sp>
      <p:sp>
        <p:nvSpPr>
          <p:cNvPr id="41" name="Shape 38"/>
          <p:cNvSpPr/>
          <p:nvPr/>
        </p:nvSpPr>
        <p:spPr>
          <a:xfrm>
            <a:off x="7928580" y="2834274"/>
            <a:ext cx="5787420" cy="95856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28580" y="3781247"/>
            <a:ext cx="578742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28580" y="3001884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584" dirty="0"/>
          </a:p>
        </p:txBody>
      </p:sp>
      <p:sp>
        <p:nvSpPr>
          <p:cNvPr id="44" name="Text 41"/>
          <p:cNvSpPr/>
          <p:nvPr/>
        </p:nvSpPr>
        <p:spPr>
          <a:xfrm>
            <a:off x="8385780" y="3056702"/>
            <a:ext cx="115827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压测勿滥用</a:t>
            </a:r>
            <a:endParaRPr lang="en-US" sz="1680" dirty="0"/>
          </a:p>
        </p:txBody>
      </p:sp>
      <p:sp>
        <p:nvSpPr>
          <p:cNvPr id="45" name="Text 42"/>
          <p:cNvSpPr/>
          <p:nvPr/>
        </p:nvSpPr>
        <p:spPr>
          <a:xfrm>
            <a:off x="8385780" y="3352465"/>
            <a:ext cx="331561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tcpcc 高并发勿在客户网络短时间重复跑</a:t>
            </a:r>
            <a:endParaRPr lang="en-US" sz="1440" dirty="0"/>
          </a:p>
        </p:txBody>
      </p:sp>
      <p:sp>
        <p:nvSpPr>
          <p:cNvPr id="46" name="Shape 43"/>
          <p:cNvSpPr/>
          <p:nvPr/>
        </p:nvSpPr>
        <p:spPr>
          <a:xfrm>
            <a:off x="7928580" y="3792840"/>
            <a:ext cx="5787420" cy="95856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928580" y="4739812"/>
            <a:ext cx="578742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28580" y="3960449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84" dirty="0"/>
          </a:p>
        </p:txBody>
      </p:sp>
      <p:sp>
        <p:nvSpPr>
          <p:cNvPr id="49" name="Text 46"/>
          <p:cNvSpPr/>
          <p:nvPr/>
        </p:nvSpPr>
        <p:spPr>
          <a:xfrm>
            <a:off x="8385780" y="4015267"/>
            <a:ext cx="94485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杀软加白</a:t>
            </a:r>
            <a:endParaRPr lang="en-US" sz="1680" dirty="0"/>
          </a:p>
        </p:txBody>
      </p:sp>
      <p:sp>
        <p:nvSpPr>
          <p:cNvPr id="50" name="Text 47"/>
          <p:cNvSpPr/>
          <p:nvPr/>
        </p:nvSpPr>
        <p:spPr>
          <a:xfrm>
            <a:off x="8385780" y="4311030"/>
            <a:ext cx="372380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盯障常驻 ping 进程可能被 EDR 告警,建议加白</a:t>
            </a:r>
            <a:endParaRPr lang="en-US" sz="1440" dirty="0"/>
          </a:p>
        </p:txBody>
      </p:sp>
      <p:sp>
        <p:nvSpPr>
          <p:cNvPr id="51" name="Shape 48"/>
          <p:cNvSpPr/>
          <p:nvPr/>
        </p:nvSpPr>
        <p:spPr>
          <a:xfrm>
            <a:off x="7928580" y="4751405"/>
            <a:ext cx="5787420" cy="95856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928580" y="5698378"/>
            <a:ext cx="578742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928580" y="4919106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6E8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84" dirty="0"/>
          </a:p>
        </p:txBody>
      </p:sp>
      <p:sp>
        <p:nvSpPr>
          <p:cNvPr id="54" name="Text 51"/>
          <p:cNvSpPr/>
          <p:nvPr/>
        </p:nvSpPr>
        <p:spPr>
          <a:xfrm>
            <a:off x="8385780" y="4973833"/>
            <a:ext cx="115827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抓包需权限</a:t>
            </a:r>
            <a:endParaRPr lang="en-US" sz="1680" dirty="0"/>
          </a:p>
        </p:txBody>
      </p:sp>
      <p:sp>
        <p:nvSpPr>
          <p:cNvPr id="55" name="Text 52"/>
          <p:cNvSpPr/>
          <p:nvPr/>
        </p:nvSpPr>
        <p:spPr>
          <a:xfrm>
            <a:off x="8385780" y="5269596"/>
            <a:ext cx="363903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--capture 需 Npcap + 管理员,首次有隐私确认</a:t>
            </a:r>
            <a:endParaRPr lang="en-US" sz="1440" dirty="0"/>
          </a:p>
        </p:txBody>
      </p:sp>
      <p:sp>
        <p:nvSpPr>
          <p:cNvPr id="56" name="Shape 53"/>
          <p:cNvSpPr/>
          <p:nvPr/>
        </p:nvSpPr>
        <p:spPr>
          <a:xfrm>
            <a:off x="914400" y="7095744"/>
            <a:ext cx="12801600" cy="4327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7095744"/>
            <a:ext cx="1280160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14400" y="7248174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274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注意</a:t>
            </a:r>
            <a:endParaRPr lang="en-US" sz="1584" dirty="0"/>
          </a:p>
        </p:txBody>
      </p:sp>
      <p:sp>
        <p:nvSpPr>
          <p:cNvPr id="59" name="Text 56"/>
          <p:cNvSpPr/>
          <p:nvPr/>
        </p:nvSpPr>
        <p:spPr>
          <a:xfrm>
            <a:off x="1439357" y="7263445"/>
            <a:ext cx="4468581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核心功能零依赖;可选增强(抓包/Npcap)首次使用有引导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4656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1974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NETPULSE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3328203" y="72009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结语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599493"/>
            <a:ext cx="1031748" cy="1848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920"/>
              </a:lnSpc>
              <a:buNone/>
            </a:pPr>
            <a:r>
              <a:rPr lang="en-US" sz="13200" b="1" dirty="0">
                <a:solidFill>
                  <a:srgbClr val="274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13200" dirty="0"/>
          </a:p>
        </p:txBody>
      </p:sp>
      <p:sp>
        <p:nvSpPr>
          <p:cNvPr id="10" name="Text 8"/>
          <p:cNvSpPr/>
          <p:nvPr/>
        </p:nvSpPr>
        <p:spPr>
          <a:xfrm>
            <a:off x="914400" y="3045047"/>
            <a:ext cx="12219277" cy="2760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381"/>
              </a:lnSpc>
              <a:buNone/>
            </a:pPr>
            <a:r>
              <a:rPr lang="en-US" sz="4560" b="1" kern="0" spc="-85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把复杂诊断交给工具 23 项诊断,8 条根因规则,单文件、零依赖、免安装, 双击即用,盯障取证,现场交付,一气呵成」。</a:t>
            </a:r>
            <a:endParaRPr lang="en-US" sz="4560" dirty="0"/>
          </a:p>
        </p:txBody>
      </p:sp>
      <p:sp>
        <p:nvSpPr>
          <p:cNvPr id="11" name="Shape 9"/>
          <p:cNvSpPr/>
          <p:nvPr/>
        </p:nvSpPr>
        <p:spPr>
          <a:xfrm>
            <a:off x="914400" y="6281471"/>
            <a:ext cx="426750" cy="2286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8310" y="6155741"/>
            <a:ext cx="93251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GITHUB RELEASES 搜索 SILENTCROW09/NETPULSE,下载 NETPULSE.EXE 即用。</a:t>
            </a:r>
            <a:endParaRPr lang="en-US" sz="1584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10896630" y="1112550"/>
            <a:ext cx="1904970" cy="190497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710946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7254210"/>
            <a:ext cx="322737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下载最新版 · 查看 RELEASES</a:t>
            </a:r>
            <a:endParaRPr lang="en-US" sz="1584" dirty="0"/>
          </a:p>
        </p:txBody>
      </p:sp>
      <p:sp>
        <p:nvSpPr>
          <p:cNvPr id="16" name="Text 13"/>
          <p:cNvSpPr/>
          <p:nvPr/>
        </p:nvSpPr>
        <p:spPr>
          <a:xfrm>
            <a:off x="11078047" y="7254210"/>
            <a:ext cx="288150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感谢阅读 · 2026 年 10 月</a:t>
            </a:r>
            <a:endParaRPr lang="en-US" sz="158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4656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1974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584" b="1" kern="0" spc="180" dirty="0">
                <a:solidFill>
                  <a:srgbClr val="F3F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NETPULSE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3328203" y="72009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结语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599493"/>
            <a:ext cx="1031748" cy="1848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920"/>
              </a:lnSpc>
              <a:buNone/>
            </a:pPr>
            <a:r>
              <a:rPr lang="en-US" sz="13200" b="1" dirty="0">
                <a:solidFill>
                  <a:srgbClr val="274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13200" dirty="0"/>
          </a:p>
        </p:txBody>
      </p:sp>
      <p:sp>
        <p:nvSpPr>
          <p:cNvPr id="10" name="Text 8"/>
          <p:cNvSpPr/>
          <p:nvPr/>
        </p:nvSpPr>
        <p:spPr>
          <a:xfrm>
            <a:off x="914400" y="3045047"/>
            <a:ext cx="12219277" cy="2760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381"/>
              </a:lnSpc>
              <a:buNone/>
            </a:pPr>
            <a:r>
              <a:rPr lang="en-US" sz="4560" b="1" kern="0" spc="-85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把复杂诊断交给工具 23 项诊断,8 条根因规则,单文件、零依赖、免安装, 双击即用,盯障取证,现场交付,一气呵成」。</a:t>
            </a:r>
            <a:endParaRPr lang="en-US" sz="4560" dirty="0"/>
          </a:p>
        </p:txBody>
      </p:sp>
      <p:sp>
        <p:nvSpPr>
          <p:cNvPr id="11" name="Shape 9"/>
          <p:cNvSpPr/>
          <p:nvPr/>
        </p:nvSpPr>
        <p:spPr>
          <a:xfrm>
            <a:off x="914400" y="6281471"/>
            <a:ext cx="426750" cy="2286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8310" y="6155741"/>
            <a:ext cx="93251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GITHUB RELEASES 搜索 SILENTCROW09/NETPULSE,下载 NETPULSE.EXE 即用。</a:t>
            </a:r>
            <a:endParaRPr lang="en-US" sz="1584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10896630" y="1112550"/>
            <a:ext cx="1904970" cy="190497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710946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7254210"/>
            <a:ext cx="322737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下载最新版 · 查看 RELEASES</a:t>
            </a:r>
            <a:endParaRPr lang="en-US" sz="1584" dirty="0"/>
          </a:p>
        </p:txBody>
      </p:sp>
      <p:sp>
        <p:nvSpPr>
          <p:cNvPr id="16" name="Text 13"/>
          <p:cNvSpPr/>
          <p:nvPr/>
        </p:nvSpPr>
        <p:spPr>
          <a:xfrm>
            <a:off x="11078047" y="7254210"/>
            <a:ext cx="288150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4" kern="0" spc="108" dirty="0">
                <a:solidFill>
                  <a:srgbClr val="B8B6B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感谢阅读 · 2026 年 10 月</a:t>
            </a:r>
            <a:endParaRPr lang="en-US" sz="1584" dirty="0"/>
          </a:p>
        </p:txBody>
      </p:sp>
    </p:spTree>
    <p:extLst>
      <p:ext uri="{BB962C8B-B14F-4D97-AF65-F5344CB8AC3E}">
        <p14:creationId xmlns:p14="http://schemas.microsoft.com/office/powerpoint/2010/main" val="3381817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803</Words>
  <Application>Microsoft Office PowerPoint</Application>
  <PresentationFormat>自定义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Microsoft YaHei</vt:lpstr>
      <vt:lpstr>Calibri</vt:lpstr>
      <vt:lpstr>Inter</vt:lpstr>
      <vt:lpstr>等线</vt:lpstr>
      <vt:lpstr>Space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 PPT</dc:creator>
  <cp:lastModifiedBy>秋生 彭</cp:lastModifiedBy>
  <cp:revision>3</cp:revision>
  <dcterms:created xsi:type="dcterms:W3CDTF">2026-10-12T14:26:31Z</dcterms:created>
  <dcterms:modified xsi:type="dcterms:W3CDTF">2026-10-12T14:34:07Z</dcterms:modified>
</cp:coreProperties>
</file>